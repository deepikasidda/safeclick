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7" d="100"/>
          <a:sy n="77" d="100"/>
        </p:scale>
        <p:origin x="883"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6994"/>
        </a:solidFill>
        <a:effectLst/>
      </p:bgPr>
    </p:bg>
    <p:spTree>
      <p:nvGrpSpPr>
        <p:cNvPr id="1" name=""/>
        <p:cNvGrpSpPr/>
        <p:nvPr/>
      </p:nvGrpSpPr>
      <p:grpSpPr>
        <a:xfrm>
          <a:off x="0" y="0"/>
          <a:ext cx="0" cy="0"/>
          <a:chOff x="0" y="0"/>
          <a:chExt cx="0" cy="0"/>
        </a:xfrm>
      </p:grpSpPr>
      <p:sp>
        <p:nvSpPr>
          <p:cNvPr id="2" name="TextBox 1"/>
          <p:cNvSpPr txBox="1"/>
          <p:nvPr/>
        </p:nvSpPr>
        <p:spPr>
          <a:xfrm>
            <a:off x="914400" y="1371600"/>
            <a:ext cx="10058400" cy="914400"/>
          </a:xfrm>
          <a:prstGeom prst="rect">
            <a:avLst/>
          </a:prstGeom>
          <a:noFill/>
        </p:spPr>
        <p:txBody>
          <a:bodyPr wrap="square">
            <a:spAutoFit/>
          </a:bodyPr>
          <a:lstStyle/>
          <a:p>
            <a:pPr algn="ctr">
              <a:lnSpc>
                <a:spcPts val="4200"/>
              </a:lnSpc>
              <a:spcAft>
                <a:spcPts val="600"/>
              </a:spcAft>
              <a:defRPr sz="2800" b="1">
                <a:solidFill>
                  <a:srgbClr val="FFFFFF"/>
                </a:solidFill>
                <a:latin typeface="Verdana"/>
              </a:defRPr>
            </a:pPr>
            <a:r>
              <a:t>MOHAN BABU UNIVERSITY</a:t>
            </a:r>
          </a:p>
        </p:txBody>
      </p:sp>
      <p:sp>
        <p:nvSpPr>
          <p:cNvPr id="3" name="TextBox 2"/>
          <p:cNvSpPr txBox="1"/>
          <p:nvPr/>
        </p:nvSpPr>
        <p:spPr>
          <a:xfrm>
            <a:off x="914400" y="2103120"/>
            <a:ext cx="10058400" cy="548640"/>
          </a:xfrm>
          <a:prstGeom prst="rect">
            <a:avLst/>
          </a:prstGeom>
          <a:noFill/>
        </p:spPr>
        <p:txBody>
          <a:bodyPr wrap="square">
            <a:spAutoFit/>
          </a:bodyPr>
          <a:lstStyle/>
          <a:p>
            <a:pPr algn="ctr">
              <a:lnSpc>
                <a:spcPts val="2700"/>
              </a:lnSpc>
              <a:spcAft>
                <a:spcPts val="600"/>
              </a:spcAft>
              <a:defRPr sz="1800" b="0">
                <a:solidFill>
                  <a:srgbClr val="ADD8E6"/>
                </a:solidFill>
                <a:latin typeface="Verdana"/>
              </a:defRPr>
            </a:pPr>
            <a:r>
              <a:t>School of Computing</a:t>
            </a:r>
          </a:p>
        </p:txBody>
      </p:sp>
      <p:sp>
        <p:nvSpPr>
          <p:cNvPr id="4" name="TextBox 3"/>
          <p:cNvSpPr txBox="1"/>
          <p:nvPr/>
        </p:nvSpPr>
        <p:spPr>
          <a:xfrm>
            <a:off x="914400" y="2651760"/>
            <a:ext cx="10058400" cy="548640"/>
          </a:xfrm>
          <a:prstGeom prst="rect">
            <a:avLst/>
          </a:prstGeom>
          <a:noFill/>
        </p:spPr>
        <p:txBody>
          <a:bodyPr wrap="square">
            <a:spAutoFit/>
          </a:bodyPr>
          <a:lstStyle/>
          <a:p>
            <a:pPr algn="ctr">
              <a:lnSpc>
                <a:spcPts val="2100"/>
              </a:lnSpc>
              <a:spcAft>
                <a:spcPts val="600"/>
              </a:spcAft>
              <a:defRPr sz="1400" b="0">
                <a:solidFill>
                  <a:srgbClr val="ADD8E6"/>
                </a:solidFill>
                <a:latin typeface="Verdana"/>
              </a:defRPr>
            </a:pPr>
            <a:r>
              <a:t>Department of Computer Science and Engineering</a:t>
            </a:r>
          </a:p>
        </p:txBody>
      </p:sp>
      <p:sp>
        <p:nvSpPr>
          <p:cNvPr id="5" name="TextBox 4"/>
          <p:cNvSpPr txBox="1"/>
          <p:nvPr/>
        </p:nvSpPr>
        <p:spPr>
          <a:xfrm>
            <a:off x="1371600" y="3657600"/>
            <a:ext cx="9144000" cy="1097280"/>
          </a:xfrm>
          <a:prstGeom prst="rect">
            <a:avLst/>
          </a:prstGeom>
          <a:noFill/>
        </p:spPr>
        <p:txBody>
          <a:bodyPr wrap="square">
            <a:spAutoFit/>
          </a:bodyPr>
          <a:lstStyle/>
          <a:p>
            <a:pPr algn="ctr">
              <a:lnSpc>
                <a:spcPts val="3300"/>
              </a:lnSpc>
              <a:spcAft>
                <a:spcPts val="600"/>
              </a:spcAft>
              <a:defRPr sz="2200" b="1">
                <a:solidFill>
                  <a:srgbClr val="DAA520"/>
                </a:solidFill>
                <a:latin typeface="Verdana"/>
              </a:defRPr>
            </a:pPr>
            <a:r>
              <a:t>ENHANCED CLOUD-NATIVE PHISHING DETECTION USING</a:t>
            </a:r>
            <a:br/>
            <a:r>
              <a:t>MULTI-MODAL AI AND COMPUTER VISION</a:t>
            </a:r>
          </a:p>
        </p:txBody>
      </p:sp>
      <p:sp>
        <p:nvSpPr>
          <p:cNvPr id="6" name="TextBox 5"/>
          <p:cNvSpPr txBox="1"/>
          <p:nvPr/>
        </p:nvSpPr>
        <p:spPr>
          <a:xfrm>
            <a:off x="914400" y="5029200"/>
            <a:ext cx="10058400" cy="457200"/>
          </a:xfrm>
          <a:prstGeom prst="rect">
            <a:avLst/>
          </a:prstGeom>
          <a:noFill/>
        </p:spPr>
        <p:txBody>
          <a:bodyPr wrap="square">
            <a:spAutoFit/>
          </a:bodyPr>
          <a:lstStyle/>
          <a:p>
            <a:pPr algn="ctr">
              <a:lnSpc>
                <a:spcPts val="2400"/>
              </a:lnSpc>
              <a:spcAft>
                <a:spcPts val="600"/>
              </a:spcAft>
              <a:defRPr sz="1600" b="1">
                <a:solidFill>
                  <a:srgbClr val="FFFFFF"/>
                </a:solidFill>
                <a:latin typeface="Verdana"/>
              </a:defRPr>
            </a:pPr>
            <a:r>
              <a:t>CAPSTONE PROJECT REPORT</a:t>
            </a:r>
          </a:p>
        </p:txBody>
      </p:sp>
      <p:sp>
        <p:nvSpPr>
          <p:cNvPr id="7" name="TextBox 6"/>
          <p:cNvSpPr txBox="1"/>
          <p:nvPr/>
        </p:nvSpPr>
        <p:spPr>
          <a:xfrm>
            <a:off x="914400" y="5669280"/>
            <a:ext cx="10058400" cy="457200"/>
          </a:xfrm>
          <a:prstGeom prst="rect">
            <a:avLst/>
          </a:prstGeom>
          <a:noFill/>
        </p:spPr>
        <p:txBody>
          <a:bodyPr wrap="square">
            <a:spAutoFit/>
          </a:bodyPr>
          <a:lstStyle/>
          <a:p>
            <a:pPr algn="ctr">
              <a:lnSpc>
                <a:spcPts val="1800"/>
              </a:lnSpc>
              <a:spcAft>
                <a:spcPts val="600"/>
              </a:spcAft>
              <a:defRPr sz="1200" b="0">
                <a:solidFill>
                  <a:srgbClr val="ADD8E6"/>
                </a:solidFill>
                <a:latin typeface="Verdana"/>
              </a:defRPr>
            </a:pPr>
            <a:r>
              <a:t>B.Tech. Computer Science and Engineering | 2024-2025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7160"/>
            <a:ext cx="10058400" cy="457200"/>
          </a:xfrm>
          <a:prstGeom prst="rect">
            <a:avLst/>
          </a:prstGeom>
          <a:noFill/>
        </p:spPr>
        <p:txBody>
          <a:bodyPr wrap="square">
            <a:spAutoFit/>
          </a:bodyPr>
          <a:lstStyle/>
          <a:p>
            <a:pPr algn="ctr">
              <a:lnSpc>
                <a:spcPts val="3000"/>
              </a:lnSpc>
              <a:spcAft>
                <a:spcPts val="600"/>
              </a:spcAft>
              <a:defRPr sz="2000" b="1">
                <a:solidFill>
                  <a:srgbClr val="FFFFFF"/>
                </a:solidFill>
                <a:latin typeface="Verdana"/>
              </a:defRPr>
            </a:pPr>
            <a:r>
              <a:t>MOHAN BABU UNIVERSITY, TIRUPATI</a:t>
            </a:r>
          </a:p>
        </p:txBody>
      </p:sp>
      <p:sp>
        <p:nvSpPr>
          <p:cNvPr id="4" name="TextBox 3"/>
          <p:cNvSpPr txBox="1"/>
          <p:nvPr/>
        </p:nvSpPr>
        <p:spPr>
          <a:xfrm>
            <a:off x="914400" y="548640"/>
            <a:ext cx="10058400" cy="365760"/>
          </a:xfrm>
          <a:prstGeom prst="rect">
            <a:avLst/>
          </a:prstGeom>
          <a:noFill/>
        </p:spPr>
        <p:txBody>
          <a:bodyPr wrap="square">
            <a:spAutoFit/>
          </a:bodyPr>
          <a:lstStyle/>
          <a:p>
            <a:pPr algn="ctr">
              <a:lnSpc>
                <a:spcPts val="1800"/>
              </a:lnSpc>
              <a:spcAft>
                <a:spcPts val="600"/>
              </a:spcAft>
              <a:defRPr sz="1200" b="0">
                <a:solidFill>
                  <a:srgbClr val="ADD8E6"/>
                </a:solidFill>
                <a:latin typeface="Verdana"/>
              </a:defRPr>
            </a:pPr>
            <a:r>
              <a:t>School of Computing | Department of CSE</a:t>
            </a:r>
          </a:p>
        </p:txBody>
      </p:sp>
      <p:sp>
        <p:nvSpPr>
          <p:cNvPr id="5" name="TextBox 4"/>
          <p:cNvSpPr txBox="1"/>
          <p:nvPr/>
        </p:nvSpPr>
        <p:spPr>
          <a:xfrm>
            <a:off x="914400" y="1645920"/>
            <a:ext cx="10058400" cy="457200"/>
          </a:xfrm>
          <a:prstGeom prst="rect">
            <a:avLst/>
          </a:prstGeom>
          <a:noFill/>
        </p:spPr>
        <p:txBody>
          <a:bodyPr wrap="square">
            <a:spAutoFit/>
          </a:bodyPr>
          <a:lstStyle/>
          <a:p>
            <a:pPr algn="ctr">
              <a:lnSpc>
                <a:spcPts val="2100"/>
              </a:lnSpc>
              <a:spcAft>
                <a:spcPts val="600"/>
              </a:spcAft>
              <a:defRPr sz="1400" b="1">
                <a:solidFill>
                  <a:srgbClr val="006994"/>
                </a:solidFill>
                <a:latin typeface="Verdana"/>
              </a:defRPr>
            </a:pPr>
            <a:r>
              <a:t>CAPSTONE PROJECT REPORT</a:t>
            </a:r>
          </a:p>
        </p:txBody>
      </p:sp>
      <p:sp>
        <p:nvSpPr>
          <p:cNvPr id="6" name="TextBox 5"/>
          <p:cNvSpPr txBox="1"/>
          <p:nvPr/>
        </p:nvSpPr>
        <p:spPr>
          <a:xfrm>
            <a:off x="1371600" y="2377440"/>
            <a:ext cx="9144000" cy="914400"/>
          </a:xfrm>
          <a:prstGeom prst="rect">
            <a:avLst/>
          </a:prstGeom>
          <a:noFill/>
        </p:spPr>
        <p:txBody>
          <a:bodyPr wrap="square">
            <a:spAutoFit/>
          </a:bodyPr>
          <a:lstStyle/>
          <a:p>
            <a:pPr algn="ctr">
              <a:lnSpc>
                <a:spcPts val="3000"/>
              </a:lnSpc>
              <a:spcAft>
                <a:spcPts val="600"/>
              </a:spcAft>
              <a:defRPr sz="2000" b="1">
                <a:solidFill>
                  <a:srgbClr val="003366"/>
                </a:solidFill>
                <a:latin typeface="Verdana"/>
              </a:defRPr>
            </a:pPr>
            <a:r>
              <a:t>Enhanced Cloud-Native Phishing Detection Using</a:t>
            </a:r>
            <a:br/>
            <a:r>
              <a:t>Multi-Modal AI and Computer Vision</a:t>
            </a:r>
          </a:p>
        </p:txBody>
      </p:sp>
      <p:sp>
        <p:nvSpPr>
          <p:cNvPr id="7" name="TextBox 6"/>
          <p:cNvSpPr txBox="1"/>
          <p:nvPr/>
        </p:nvSpPr>
        <p:spPr>
          <a:xfrm>
            <a:off x="1371600" y="3657600"/>
            <a:ext cx="4572000" cy="2286000"/>
          </a:xfrm>
          <a:prstGeom prst="rect">
            <a:avLst/>
          </a:prstGeom>
          <a:noFill/>
        </p:spPr>
        <p:txBody>
          <a:bodyPr wrap="square">
            <a:spAutoFit/>
          </a:bodyPr>
          <a:lstStyle/>
          <a:p>
            <a:pPr algn="l">
              <a:lnSpc>
                <a:spcPts val="1800"/>
              </a:lnSpc>
              <a:spcAft>
                <a:spcPts val="600"/>
              </a:spcAft>
              <a:defRPr sz="1200" b="1">
                <a:solidFill>
                  <a:srgbClr val="006994"/>
                </a:solidFill>
                <a:latin typeface="Verdana"/>
              </a:defRPr>
            </a:pPr>
            <a:r>
              <a:t>Submitted By:</a:t>
            </a:r>
          </a:p>
          <a:p>
            <a:pPr algn="l">
              <a:lnSpc>
                <a:spcPts val="1600"/>
              </a:lnSpc>
              <a:spcBef>
                <a:spcPts val="0"/>
              </a:spcBef>
              <a:spcAft>
                <a:spcPts val="400"/>
              </a:spcAft>
              <a:defRPr sz="1100" b="0">
                <a:solidFill>
                  <a:srgbClr val="000000"/>
                </a:solidFill>
                <a:latin typeface="Verdana"/>
              </a:defRPr>
            </a:pPr>
            <a:r>
              <a:t>Sidda Deepika</a:t>
            </a:r>
          </a:p>
          <a:p>
            <a:pPr algn="l">
              <a:lnSpc>
                <a:spcPts val="1600"/>
              </a:lnSpc>
              <a:spcBef>
                <a:spcPts val="0"/>
              </a:spcBef>
              <a:spcAft>
                <a:spcPts val="400"/>
              </a:spcAft>
              <a:defRPr sz="1100" b="0">
                <a:solidFill>
                  <a:srgbClr val="000000"/>
                </a:solidFill>
                <a:latin typeface="Verdana"/>
              </a:defRPr>
            </a:pPr>
            <a:r>
              <a:t>Sasanapuri Sesha Sai</a:t>
            </a:r>
          </a:p>
          <a:p>
            <a:pPr algn="l">
              <a:lnSpc>
                <a:spcPts val="1600"/>
              </a:lnSpc>
              <a:spcBef>
                <a:spcPts val="0"/>
              </a:spcBef>
              <a:spcAft>
                <a:spcPts val="400"/>
              </a:spcAft>
              <a:defRPr sz="1100" b="0">
                <a:solidFill>
                  <a:srgbClr val="000000"/>
                </a:solidFill>
                <a:latin typeface="Verdana"/>
              </a:defRPr>
            </a:pPr>
            <a:r>
              <a:t>Patapanchula Hemanth Sai</a:t>
            </a:r>
          </a:p>
          <a:p>
            <a:pPr algn="l">
              <a:lnSpc>
                <a:spcPts val="1600"/>
              </a:lnSpc>
              <a:spcBef>
                <a:spcPts val="0"/>
              </a:spcBef>
              <a:spcAft>
                <a:spcPts val="400"/>
              </a:spcAft>
              <a:defRPr sz="1100" b="0">
                <a:solidFill>
                  <a:srgbClr val="000000"/>
                </a:solidFill>
                <a:latin typeface="Verdana"/>
              </a:defRPr>
            </a:pPr>
            <a:r>
              <a:t>Pasupula Shanthan Kumar</a:t>
            </a:r>
          </a:p>
        </p:txBody>
      </p:sp>
      <p:sp>
        <p:nvSpPr>
          <p:cNvPr id="8" name="TextBox 7"/>
          <p:cNvSpPr txBox="1"/>
          <p:nvPr/>
        </p:nvSpPr>
        <p:spPr>
          <a:xfrm>
            <a:off x="6858000" y="3657600"/>
            <a:ext cx="4572000" cy="1828800"/>
          </a:xfrm>
          <a:prstGeom prst="rect">
            <a:avLst/>
          </a:prstGeom>
          <a:noFill/>
        </p:spPr>
        <p:txBody>
          <a:bodyPr wrap="square">
            <a:spAutoFit/>
          </a:bodyPr>
          <a:lstStyle/>
          <a:p>
            <a:pPr algn="l">
              <a:lnSpc>
                <a:spcPts val="1800"/>
              </a:lnSpc>
              <a:spcAft>
                <a:spcPts val="600"/>
              </a:spcAft>
              <a:defRPr sz="1200" b="1">
                <a:solidFill>
                  <a:srgbClr val="006994"/>
                </a:solidFill>
                <a:latin typeface="Verdana"/>
              </a:defRPr>
            </a:pPr>
            <a:r>
              <a:t>Supervised By:</a:t>
            </a:r>
          </a:p>
          <a:p>
            <a:pPr algn="l">
              <a:lnSpc>
                <a:spcPts val="1600"/>
              </a:lnSpc>
              <a:spcBef>
                <a:spcPts val="0"/>
              </a:spcBef>
              <a:spcAft>
                <a:spcPts val="400"/>
              </a:spcAft>
              <a:defRPr sz="1100" b="0">
                <a:solidFill>
                  <a:srgbClr val="000000"/>
                </a:solidFill>
                <a:latin typeface="Verdana"/>
              </a:defRPr>
            </a:pPr>
            <a:r>
              <a:t>Dr. Cuddapah Anitha</a:t>
            </a:r>
          </a:p>
          <a:p>
            <a:pPr algn="l">
              <a:lnSpc>
                <a:spcPts val="1300"/>
              </a:lnSpc>
              <a:spcBef>
                <a:spcPts val="0"/>
              </a:spcBef>
              <a:spcAft>
                <a:spcPts val="400"/>
              </a:spcAft>
              <a:defRPr sz="900" b="0">
                <a:solidFill>
                  <a:srgbClr val="646464"/>
                </a:solidFill>
                <a:latin typeface="Verdana"/>
              </a:defRPr>
            </a:pPr>
            <a:r>
              <a:t>Associate Professor, Dept. of CSE</a:t>
            </a:r>
          </a:p>
        </p:txBody>
      </p:sp>
      <p:sp>
        <p:nvSpPr>
          <p:cNvPr id="9" name="TextBox 8"/>
          <p:cNvSpPr txBox="1"/>
          <p:nvPr/>
        </p:nvSpPr>
        <p:spPr>
          <a:xfrm>
            <a:off x="914400" y="6217920"/>
            <a:ext cx="10058400" cy="365760"/>
          </a:xfrm>
          <a:prstGeom prst="rect">
            <a:avLst/>
          </a:prstGeom>
          <a:noFill/>
        </p:spPr>
        <p:txBody>
          <a:bodyPr wrap="square">
            <a:spAutoFit/>
          </a:bodyPr>
          <a:lstStyle/>
          <a:p>
            <a:pPr algn="ctr">
              <a:lnSpc>
                <a:spcPts val="1600"/>
              </a:lnSpc>
              <a:spcAft>
                <a:spcPts val="600"/>
              </a:spcAft>
              <a:defRPr sz="1100" b="0">
                <a:solidFill>
                  <a:srgbClr val="646464"/>
                </a:solidFill>
                <a:latin typeface="Verdana"/>
              </a:defRPr>
            </a:pPr>
            <a:r>
              <a:t>Academic Year: 2024-2025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ctr">
              <a:lnSpc>
                <a:spcPts val="2700"/>
              </a:lnSpc>
              <a:spcAft>
                <a:spcPts val="600"/>
              </a:spcAft>
              <a:defRPr sz="1800" b="1">
                <a:solidFill>
                  <a:srgbClr val="FFFFFF"/>
                </a:solidFill>
                <a:latin typeface="Verdana"/>
              </a:defRPr>
            </a:pPr>
            <a:r>
              <a:t>CERTIFICATE</a:t>
            </a:r>
          </a:p>
        </p:txBody>
      </p:sp>
      <p:sp>
        <p:nvSpPr>
          <p:cNvPr id="4" name="TextBox 3"/>
          <p:cNvSpPr txBox="1"/>
          <p:nvPr/>
        </p:nvSpPr>
        <p:spPr>
          <a:xfrm>
            <a:off x="914400" y="1371600"/>
            <a:ext cx="10058400" cy="228600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r>
              <a:t>This is to certify that the Capstone Project entitled "Enhanced Cloud-Native Phishing Detection Using Multi-Modal AI and Computer Vision" is a bonafide work carried out by Sidda Deepika, Sasanapuri Sesha Sai, Patapanchula Hemanth Sai, and Pasupula Shanthan Kumar, students of B.Tech. Computer Science and Engineering, School of Computing, Mohan Babu University, Tirupati, in partial fulfillment of the requirements for the award of the degree of Bachelor of Technology in Computer Science and Engineering during the academic year 2024-2025.</a:t>
            </a:r>
          </a:p>
        </p:txBody>
      </p:sp>
      <p:sp>
        <p:nvSpPr>
          <p:cNvPr id="5" name="TextBox 4"/>
          <p:cNvSpPr txBox="1"/>
          <p:nvPr/>
        </p:nvSpPr>
        <p:spPr>
          <a:xfrm>
            <a:off x="914400" y="4114800"/>
            <a:ext cx="4572000" cy="1828800"/>
          </a:xfrm>
          <a:prstGeom prst="rect">
            <a:avLst/>
          </a:prstGeom>
          <a:noFill/>
        </p:spPr>
        <p:txBody>
          <a:bodyPr wrap="square">
            <a:spAutoFit/>
          </a:bodyPr>
          <a:lstStyle/>
          <a:p>
            <a:pPr algn="l">
              <a:lnSpc>
                <a:spcPts val="1600"/>
              </a:lnSpc>
              <a:spcAft>
                <a:spcPts val="600"/>
              </a:spcAft>
              <a:defRPr sz="1100" b="1">
                <a:solidFill>
                  <a:srgbClr val="006994"/>
                </a:solidFill>
                <a:latin typeface="Verdana"/>
              </a:defRPr>
            </a:pPr>
            <a:r>
              <a:t>Project Supervisor:</a:t>
            </a:r>
          </a:p>
          <a:p>
            <a:pPr algn="l">
              <a:lnSpc>
                <a:spcPts val="1600"/>
              </a:lnSpc>
              <a:spcBef>
                <a:spcPts val="0"/>
              </a:spcBef>
              <a:spcAft>
                <a:spcPts val="400"/>
              </a:spcAft>
              <a:defRPr sz="1100" b="0">
                <a:solidFill>
                  <a:srgbClr val="000000"/>
                </a:solidFill>
                <a:latin typeface="Verdana"/>
              </a:defRPr>
            </a:pPr>
            <a:r>
              <a:t>Dr. Cuddapah Anitha</a:t>
            </a:r>
          </a:p>
          <a:p>
            <a:pPr algn="l">
              <a:lnSpc>
                <a:spcPts val="1300"/>
              </a:lnSpc>
              <a:spcBef>
                <a:spcPts val="0"/>
              </a:spcBef>
              <a:spcAft>
                <a:spcPts val="400"/>
              </a:spcAft>
              <a:defRPr sz="900" b="0">
                <a:solidFill>
                  <a:srgbClr val="646464"/>
                </a:solidFill>
                <a:latin typeface="Verdana"/>
              </a:defRPr>
            </a:pPr>
            <a:r>
              <a:t>Associate Professor, Dept. of CSE</a:t>
            </a:r>
          </a:p>
        </p:txBody>
      </p:sp>
      <p:sp>
        <p:nvSpPr>
          <p:cNvPr id="6" name="TextBox 5"/>
          <p:cNvSpPr txBox="1"/>
          <p:nvPr/>
        </p:nvSpPr>
        <p:spPr>
          <a:xfrm>
            <a:off x="6858000" y="4114800"/>
            <a:ext cx="4572000" cy="1828800"/>
          </a:xfrm>
          <a:prstGeom prst="rect">
            <a:avLst/>
          </a:prstGeom>
          <a:noFill/>
        </p:spPr>
        <p:txBody>
          <a:bodyPr wrap="square">
            <a:spAutoFit/>
          </a:bodyPr>
          <a:lstStyle/>
          <a:p>
            <a:pPr algn="l">
              <a:lnSpc>
                <a:spcPts val="1600"/>
              </a:lnSpc>
              <a:spcAft>
                <a:spcPts val="600"/>
              </a:spcAft>
              <a:defRPr sz="1100" b="1">
                <a:solidFill>
                  <a:srgbClr val="006994"/>
                </a:solidFill>
                <a:latin typeface="Verdana"/>
              </a:defRPr>
            </a:pPr>
            <a:r>
              <a:t>Head of Department:</a:t>
            </a:r>
          </a:p>
          <a:p>
            <a:pPr algn="l">
              <a:lnSpc>
                <a:spcPts val="1600"/>
              </a:lnSpc>
              <a:spcBef>
                <a:spcPts val="0"/>
              </a:spcBef>
              <a:spcAft>
                <a:spcPts val="400"/>
              </a:spcAft>
              <a:defRPr sz="1100" b="0">
                <a:solidFill>
                  <a:srgbClr val="000000"/>
                </a:solidFill>
                <a:latin typeface="Verdana"/>
              </a:defRPr>
            </a:pPr>
            <a:r>
              <a:t>Department of CSE</a:t>
            </a:r>
          </a:p>
          <a:p>
            <a:pPr algn="l">
              <a:lnSpc>
                <a:spcPts val="1300"/>
              </a:lnSpc>
              <a:spcBef>
                <a:spcPts val="0"/>
              </a:spcBef>
              <a:spcAft>
                <a:spcPts val="400"/>
              </a:spcAft>
              <a:defRPr sz="900" b="0">
                <a:solidFill>
                  <a:srgbClr val="646464"/>
                </a:solidFill>
                <a:latin typeface="Verdana"/>
              </a:defRPr>
            </a:pPr>
            <a:r>
              <a:t>School of Computing, MBU</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ACKNOWLEDGEMENT</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We would like to express our sincere gratitude to our project supervisor, Dr. Cuddapah Anitha, Associate Professor, Department of Computer Science and Engineering, School of Computing, Mohan Babu University, Tirupati, for her invaluable guidance, constant encouragement, and constructive suggestions throughout the course of this project.</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We extend our heartfelt thanks to the Head of the Department of Computer Science and Engineering for providing the necessary facilities and support for the successful completion of this project.</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We are grateful to the Dean, School of Computing, and the Vice-Chancellor, Mohan Babu University, for their vision and commitment to academic excellence that has enabled us to pursue this research.</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We also thank all the faculty members and staff of the Department of CSE for their cooperation and assistance during the project work.</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Finally, we thank our families and friends for their unwavering support and encouragement.</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Sidda Deepika</a:t>
            </a:r>
          </a:p>
          <a:p>
            <a:pPr algn="just">
              <a:lnSpc>
                <a:spcPts val="1500"/>
              </a:lnSpc>
              <a:spcBef>
                <a:spcPts val="400"/>
              </a:spcBef>
              <a:spcAft>
                <a:spcPts val="400"/>
              </a:spcAft>
              <a:defRPr sz="1000" b="0">
                <a:solidFill>
                  <a:srgbClr val="000000"/>
                </a:solidFill>
                <a:latin typeface="Verdana"/>
              </a:defRPr>
            </a:pPr>
            <a:r>
              <a:t>Sasanapuri Sesha Sai</a:t>
            </a:r>
          </a:p>
          <a:p>
            <a:pPr algn="just">
              <a:lnSpc>
                <a:spcPts val="1500"/>
              </a:lnSpc>
              <a:spcBef>
                <a:spcPts val="400"/>
              </a:spcBef>
              <a:spcAft>
                <a:spcPts val="400"/>
              </a:spcAft>
              <a:defRPr sz="1000" b="0">
                <a:solidFill>
                  <a:srgbClr val="000000"/>
                </a:solidFill>
                <a:latin typeface="Verdana"/>
              </a:defRPr>
            </a:pPr>
            <a:r>
              <a:t>Patapanchula Hemanth Sai</a:t>
            </a:r>
          </a:p>
          <a:p>
            <a:pPr algn="just">
              <a:lnSpc>
                <a:spcPts val="1500"/>
              </a:lnSpc>
              <a:spcBef>
                <a:spcPts val="400"/>
              </a:spcBef>
              <a:spcAft>
                <a:spcPts val="400"/>
              </a:spcAft>
              <a:defRPr sz="1000" b="0">
                <a:solidFill>
                  <a:srgbClr val="000000"/>
                </a:solidFill>
                <a:latin typeface="Verdana"/>
              </a:defRPr>
            </a:pPr>
            <a:r>
              <a:t>Pasupula Shanthan Kumar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DECLARATION</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We hereby declare that the Capstone Project entitled "Enhanced Cloud-Native Phishing Detection Using Multi-Modal AI and Computer Vision" submitted to Mohan Babu University, Tirupati, in partial fulfillment of the requirements for the award of the degree of Bachelor of Technology in Computer Science and Engineering, is a record of original work done by us under the supervision of Dr. Cuddapah Anitha, Associate Professor, Department of Computer Science and Engineering, School of Computing, Mohan Babu University.</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The results embodied in this project report have not been submitted to any other university or institution for the award of any degree or diploma.</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Sidda Deepika</a:t>
            </a:r>
          </a:p>
          <a:p>
            <a:pPr algn="just">
              <a:lnSpc>
                <a:spcPts val="1500"/>
              </a:lnSpc>
              <a:spcBef>
                <a:spcPts val="400"/>
              </a:spcBef>
              <a:spcAft>
                <a:spcPts val="400"/>
              </a:spcAft>
              <a:defRPr sz="1000" b="0">
                <a:solidFill>
                  <a:srgbClr val="000000"/>
                </a:solidFill>
                <a:latin typeface="Verdana"/>
              </a:defRPr>
            </a:pPr>
            <a:r>
              <a:t>Sasanapuri Sesha Sai</a:t>
            </a:r>
          </a:p>
          <a:p>
            <a:pPr algn="just">
              <a:lnSpc>
                <a:spcPts val="1500"/>
              </a:lnSpc>
              <a:spcBef>
                <a:spcPts val="400"/>
              </a:spcBef>
              <a:spcAft>
                <a:spcPts val="400"/>
              </a:spcAft>
              <a:defRPr sz="1000" b="0">
                <a:solidFill>
                  <a:srgbClr val="000000"/>
                </a:solidFill>
                <a:latin typeface="Verdana"/>
              </a:defRPr>
            </a:pPr>
            <a:r>
              <a:t>Patapanchula Hemanth Sai</a:t>
            </a:r>
          </a:p>
          <a:p>
            <a:pPr algn="just">
              <a:lnSpc>
                <a:spcPts val="1500"/>
              </a:lnSpc>
              <a:spcBef>
                <a:spcPts val="400"/>
              </a:spcBef>
              <a:spcAft>
                <a:spcPts val="400"/>
              </a:spcAft>
              <a:defRPr sz="1000" b="0">
                <a:solidFill>
                  <a:srgbClr val="000000"/>
                </a:solidFill>
                <a:latin typeface="Verdana"/>
              </a:defRPr>
            </a:pPr>
            <a:r>
              <a:t>Pasupula Shanthan Kumar</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Place: Tirupati</a:t>
            </a:r>
          </a:p>
          <a:p>
            <a:pPr algn="just">
              <a:lnSpc>
                <a:spcPts val="1500"/>
              </a:lnSpc>
              <a:spcBef>
                <a:spcPts val="400"/>
              </a:spcBef>
              <a:spcAft>
                <a:spcPts val="400"/>
              </a:spcAft>
              <a:defRPr sz="1000" b="0">
                <a:solidFill>
                  <a:srgbClr val="000000"/>
                </a:solidFill>
                <a:latin typeface="Verdana"/>
              </a:defRPr>
            </a:pPr>
            <a:r>
              <a:t>Date: 2025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VISION AND MISSION OF MOHAN BABU UNIVERSITY</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1">
                <a:solidFill>
                  <a:srgbClr val="000000"/>
                </a:solidFill>
                <a:latin typeface="Verdana"/>
              </a:defRPr>
            </a:pPr>
            <a:r>
              <a:t>Vision:</a:t>
            </a:r>
          </a:p>
          <a:p>
            <a:pPr algn="just">
              <a:lnSpc>
                <a:spcPts val="1500"/>
              </a:lnSpc>
              <a:spcBef>
                <a:spcPts val="400"/>
              </a:spcBef>
              <a:spcAft>
                <a:spcPts val="400"/>
              </a:spcAft>
              <a:defRPr sz="1000" b="0">
                <a:solidFill>
                  <a:srgbClr val="000000"/>
                </a:solidFill>
                <a:latin typeface="Verdana"/>
              </a:defRPr>
            </a:pPr>
            <a:r>
              <a:t>To be a globally recognized university that fosters innovation, research, and holistic development, producing competent professionals who contribute to the advancement of society.</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1">
                <a:solidFill>
                  <a:srgbClr val="000000"/>
                </a:solidFill>
                <a:latin typeface="Verdana"/>
              </a:defRPr>
            </a:pPr>
            <a:r>
              <a:t>Mission:</a:t>
            </a:r>
          </a:p>
          <a:p>
            <a:pPr algn="just">
              <a:lnSpc>
                <a:spcPts val="1500"/>
              </a:lnSpc>
              <a:spcBef>
                <a:spcPts val="400"/>
              </a:spcBef>
              <a:spcAft>
                <a:spcPts val="400"/>
              </a:spcAft>
              <a:defRPr sz="1000" b="0">
                <a:solidFill>
                  <a:srgbClr val="000000"/>
                </a:solidFill>
                <a:latin typeface="Verdana"/>
              </a:defRPr>
            </a:pPr>
            <a:r>
              <a:t>M1: To provide quality education through innovative teaching-learning methodologies and state-of-the-art infrastructure.</a:t>
            </a:r>
          </a:p>
          <a:p>
            <a:pPr algn="just">
              <a:lnSpc>
                <a:spcPts val="1500"/>
              </a:lnSpc>
              <a:spcBef>
                <a:spcPts val="400"/>
              </a:spcBef>
              <a:spcAft>
                <a:spcPts val="400"/>
              </a:spcAft>
              <a:defRPr sz="1000" b="0">
                <a:solidFill>
                  <a:srgbClr val="000000"/>
                </a:solidFill>
                <a:latin typeface="Verdana"/>
              </a:defRPr>
            </a:pPr>
            <a:r>
              <a:t>M2: To promote research and development activities that address real-world challenges and contribute to technological advancement.</a:t>
            </a:r>
          </a:p>
          <a:p>
            <a:pPr algn="just">
              <a:lnSpc>
                <a:spcPts val="1500"/>
              </a:lnSpc>
              <a:spcBef>
                <a:spcPts val="400"/>
              </a:spcBef>
              <a:spcAft>
                <a:spcPts val="400"/>
              </a:spcAft>
              <a:defRPr sz="1000" b="0">
                <a:solidFill>
                  <a:srgbClr val="000000"/>
                </a:solidFill>
                <a:latin typeface="Verdana"/>
              </a:defRPr>
            </a:pPr>
            <a:r>
              <a:t>M3: To develop industry-ready professionals with strong ethical values, leadership qualities, and a commitment to lifelong learning.</a:t>
            </a:r>
          </a:p>
          <a:p>
            <a:pPr algn="just">
              <a:lnSpc>
                <a:spcPts val="1500"/>
              </a:lnSpc>
              <a:spcBef>
                <a:spcPts val="400"/>
              </a:spcBef>
              <a:spcAft>
                <a:spcPts val="400"/>
              </a:spcAft>
              <a:defRPr sz="1000" b="0">
                <a:solidFill>
                  <a:srgbClr val="000000"/>
                </a:solidFill>
                <a:latin typeface="Verdana"/>
              </a:defRPr>
            </a:pPr>
            <a:r>
              <a:t>M4: To foster collaborations with national and international institutions, industries, and research organizations for knowledge exchange and mutual growth.</a:t>
            </a:r>
          </a:p>
          <a:p>
            <a:pPr algn="just">
              <a:lnSpc>
                <a:spcPts val="1500"/>
              </a:lnSpc>
              <a:spcBef>
                <a:spcPts val="400"/>
              </a:spcBef>
              <a:spcAft>
                <a:spcPts val="400"/>
              </a:spcAft>
              <a:defRPr sz="1000" b="0">
                <a:solidFill>
                  <a:srgbClr val="000000"/>
                </a:solidFill>
                <a:latin typeface="Verdana"/>
              </a:defRPr>
            </a:pPr>
            <a:r>
              <a:t>M5: To create an inclusive and supportive learning environment that nurtures creativity, critical thinking, and social responsibility.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VISION AND MISSION OF SCHOOL OF COMPUTING</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1">
                <a:solidFill>
                  <a:srgbClr val="000000"/>
                </a:solidFill>
                <a:latin typeface="Verdana"/>
              </a:defRPr>
            </a:pPr>
            <a:r>
              <a:t>Vision:</a:t>
            </a:r>
          </a:p>
          <a:p>
            <a:pPr algn="just">
              <a:lnSpc>
                <a:spcPts val="1500"/>
              </a:lnSpc>
              <a:spcBef>
                <a:spcPts val="400"/>
              </a:spcBef>
              <a:spcAft>
                <a:spcPts val="400"/>
              </a:spcAft>
              <a:defRPr sz="1000" b="0">
                <a:solidFill>
                  <a:srgbClr val="000000"/>
                </a:solidFill>
                <a:latin typeface="Verdana"/>
              </a:defRPr>
            </a:pPr>
            <a:r>
              <a:t>To be a center of excellence in computing education and research, producing skilled professionals who drive technological innovation and digital transformation.</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1">
                <a:solidFill>
                  <a:srgbClr val="000000"/>
                </a:solidFill>
                <a:latin typeface="Verdana"/>
              </a:defRPr>
            </a:pPr>
            <a:r>
              <a:t>Mission:</a:t>
            </a:r>
          </a:p>
          <a:p>
            <a:pPr algn="just">
              <a:lnSpc>
                <a:spcPts val="1500"/>
              </a:lnSpc>
              <a:spcBef>
                <a:spcPts val="400"/>
              </a:spcBef>
              <a:spcAft>
                <a:spcPts val="400"/>
              </a:spcAft>
              <a:defRPr sz="1000" b="0">
                <a:solidFill>
                  <a:srgbClr val="000000"/>
                </a:solidFill>
                <a:latin typeface="Verdana"/>
              </a:defRPr>
            </a:pPr>
            <a:r>
              <a:t>M1: To impart quality education in computing disciplines through a curriculum aligned with industry standards and emerging technologies.</a:t>
            </a:r>
          </a:p>
          <a:p>
            <a:pPr algn="just">
              <a:lnSpc>
                <a:spcPts val="1500"/>
              </a:lnSpc>
              <a:spcBef>
                <a:spcPts val="400"/>
              </a:spcBef>
              <a:spcAft>
                <a:spcPts val="400"/>
              </a:spcAft>
              <a:defRPr sz="1000" b="0">
                <a:solidFill>
                  <a:srgbClr val="000000"/>
                </a:solidFill>
                <a:latin typeface="Verdana"/>
              </a:defRPr>
            </a:pPr>
            <a:r>
              <a:t>M2: To encourage research and innovation in areas such as artificial intelligence, machine learning, cybersecurity, cloud computing, and data science.</a:t>
            </a:r>
          </a:p>
          <a:p>
            <a:pPr algn="just">
              <a:lnSpc>
                <a:spcPts val="1500"/>
              </a:lnSpc>
              <a:spcBef>
                <a:spcPts val="400"/>
              </a:spcBef>
              <a:spcAft>
                <a:spcPts val="400"/>
              </a:spcAft>
              <a:defRPr sz="1000" b="0">
                <a:solidFill>
                  <a:srgbClr val="000000"/>
                </a:solidFill>
                <a:latin typeface="Verdana"/>
              </a:defRPr>
            </a:pPr>
            <a:r>
              <a:t>M3: To develop computing professionals with strong problem-solving abilities, ethical awareness, and the capacity for continuous learning.</a:t>
            </a:r>
          </a:p>
          <a:p>
            <a:pPr algn="just">
              <a:lnSpc>
                <a:spcPts val="1500"/>
              </a:lnSpc>
              <a:spcBef>
                <a:spcPts val="400"/>
              </a:spcBef>
              <a:spcAft>
                <a:spcPts val="400"/>
              </a:spcAft>
              <a:defRPr sz="1000" b="0">
                <a:solidFill>
                  <a:srgbClr val="000000"/>
                </a:solidFill>
                <a:latin typeface="Verdana"/>
              </a:defRPr>
            </a:pPr>
            <a:r>
              <a:t>M4: To establish partnerships with leading technology companies and research institutions for internships, projects, and collaborative research.</a:t>
            </a:r>
          </a:p>
          <a:p>
            <a:pPr algn="just">
              <a:lnSpc>
                <a:spcPts val="1500"/>
              </a:lnSpc>
              <a:spcBef>
                <a:spcPts val="400"/>
              </a:spcBef>
              <a:spcAft>
                <a:spcPts val="400"/>
              </a:spcAft>
              <a:defRPr sz="1000" b="0">
                <a:solidFill>
                  <a:srgbClr val="000000"/>
                </a:solidFill>
                <a:latin typeface="Verdana"/>
              </a:defRPr>
            </a:pPr>
            <a:r>
              <a:t>M5: To provide a stimulating academic environment with modern laboratories, computing resources, and mentorship programs.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VISION AND MISSION OF CSE DEPARTMENT</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1">
                <a:solidFill>
                  <a:srgbClr val="000000"/>
                </a:solidFill>
                <a:latin typeface="Verdana"/>
              </a:defRPr>
            </a:pPr>
            <a:r>
              <a:t>Vision:</a:t>
            </a:r>
          </a:p>
          <a:p>
            <a:pPr algn="just">
              <a:lnSpc>
                <a:spcPts val="1500"/>
              </a:lnSpc>
              <a:spcBef>
                <a:spcPts val="400"/>
              </a:spcBef>
              <a:spcAft>
                <a:spcPts val="400"/>
              </a:spcAft>
              <a:defRPr sz="1000" b="0">
                <a:solidFill>
                  <a:srgbClr val="000000"/>
                </a:solidFill>
                <a:latin typeface="Verdana"/>
              </a:defRPr>
            </a:pPr>
            <a:r>
              <a:t>To produce competent computer science engineers who excel in software development, research, and innovation, contributing to the growth of the IT industry and society.</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1">
                <a:solidFill>
                  <a:srgbClr val="000000"/>
                </a:solidFill>
                <a:latin typeface="Verdana"/>
              </a:defRPr>
            </a:pPr>
            <a:r>
              <a:t>Mission:</a:t>
            </a:r>
          </a:p>
          <a:p>
            <a:pPr algn="just">
              <a:lnSpc>
                <a:spcPts val="1500"/>
              </a:lnSpc>
              <a:spcBef>
                <a:spcPts val="400"/>
              </a:spcBef>
              <a:spcAft>
                <a:spcPts val="400"/>
              </a:spcAft>
              <a:defRPr sz="1000" b="0">
                <a:solidFill>
                  <a:srgbClr val="000000"/>
                </a:solidFill>
                <a:latin typeface="Verdana"/>
              </a:defRPr>
            </a:pPr>
            <a:r>
              <a:t>M1: To provide a strong foundation in computer science fundamentals, programming, algorithms, and software engineering practices.</a:t>
            </a:r>
          </a:p>
          <a:p>
            <a:pPr algn="just">
              <a:lnSpc>
                <a:spcPts val="1500"/>
              </a:lnSpc>
              <a:spcBef>
                <a:spcPts val="400"/>
              </a:spcBef>
              <a:spcAft>
                <a:spcPts val="400"/>
              </a:spcAft>
              <a:defRPr sz="1000" b="0">
                <a:solidFill>
                  <a:srgbClr val="000000"/>
                </a:solidFill>
                <a:latin typeface="Verdana"/>
              </a:defRPr>
            </a:pPr>
            <a:r>
              <a:t>M2: To expose students to cutting-edge technologies including AI/ML, cloud computing, cybersecurity, IoT, and blockchain through hands-on projects and laboratory work.</a:t>
            </a:r>
          </a:p>
          <a:p>
            <a:pPr algn="just">
              <a:lnSpc>
                <a:spcPts val="1500"/>
              </a:lnSpc>
              <a:spcBef>
                <a:spcPts val="400"/>
              </a:spcBef>
              <a:spcAft>
                <a:spcPts val="400"/>
              </a:spcAft>
              <a:defRPr sz="1000" b="0">
                <a:solidFill>
                  <a:srgbClr val="000000"/>
                </a:solidFill>
                <a:latin typeface="Verdana"/>
              </a:defRPr>
            </a:pPr>
            <a:r>
              <a:t>M3: To develop analytical thinking, teamwork, and communication skills essential for professional success in the global IT industry.</a:t>
            </a:r>
          </a:p>
          <a:p>
            <a:pPr algn="just">
              <a:lnSpc>
                <a:spcPts val="1500"/>
              </a:lnSpc>
              <a:spcBef>
                <a:spcPts val="400"/>
              </a:spcBef>
              <a:spcAft>
                <a:spcPts val="400"/>
              </a:spcAft>
              <a:defRPr sz="1000" b="0">
                <a:solidFill>
                  <a:srgbClr val="000000"/>
                </a:solidFill>
                <a:latin typeface="Verdana"/>
              </a:defRPr>
            </a:pPr>
            <a:r>
              <a:t>M4: To encourage participation in hackathons, coding competitions, research publications, and open-source contributions.</a:t>
            </a:r>
          </a:p>
          <a:p>
            <a:pPr algn="just">
              <a:lnSpc>
                <a:spcPts val="1500"/>
              </a:lnSpc>
              <a:spcBef>
                <a:spcPts val="400"/>
              </a:spcBef>
              <a:spcAft>
                <a:spcPts val="400"/>
              </a:spcAft>
              <a:defRPr sz="1000" b="0">
                <a:solidFill>
                  <a:srgbClr val="000000"/>
                </a:solidFill>
                <a:latin typeface="Verdana"/>
              </a:defRPr>
            </a:pPr>
            <a:r>
              <a:t>M5: To facilitate industry interactions through guest lectures, workshops, internships, and placement drives with leading technology companies.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PROGRAM EDUCATIONAL OBJECTIVES OF B.TECH. CSE</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The Program Educational Objectives (PEOs) of the B.Tech. Computer Science and Engineering program are designed to prepare graduates for successful careers and lifelong learning.</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1">
                <a:solidFill>
                  <a:srgbClr val="000000"/>
                </a:solidFill>
                <a:latin typeface="Verdana"/>
              </a:defRPr>
            </a:pPr>
            <a:r>
              <a:t>PEO 1: Technical Competence</a:t>
            </a:r>
          </a:p>
          <a:p>
            <a:pPr algn="just">
              <a:lnSpc>
                <a:spcPts val="1500"/>
              </a:lnSpc>
              <a:spcBef>
                <a:spcPts val="400"/>
              </a:spcBef>
              <a:spcAft>
                <a:spcPts val="400"/>
              </a:spcAft>
              <a:defRPr sz="1000" b="0">
                <a:solidFill>
                  <a:srgbClr val="000000"/>
                </a:solidFill>
                <a:latin typeface="Verdana"/>
              </a:defRPr>
            </a:pPr>
            <a:r>
              <a:t>Graduates will demonstrate strong technical skills in computer science and engineering, enabling them to design, develop, and deploy software solutions for complex real-world problems.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1">
                <a:solidFill>
                  <a:srgbClr val="000000"/>
                </a:solidFill>
                <a:latin typeface="Verdana"/>
              </a:defRPr>
            </a:pPr>
            <a:r>
              <a:t>PEO 2: Professional Growth</a:t>
            </a:r>
          </a:p>
          <a:p>
            <a:pPr algn="just">
              <a:lnSpc>
                <a:spcPts val="1500"/>
              </a:lnSpc>
              <a:spcBef>
                <a:spcPts val="400"/>
              </a:spcBef>
              <a:spcAft>
                <a:spcPts val="400"/>
              </a:spcAft>
              <a:defRPr sz="1000" b="0">
                <a:solidFill>
                  <a:srgbClr val="000000"/>
                </a:solidFill>
                <a:latin typeface="Verdana"/>
              </a:defRPr>
            </a:pPr>
            <a:r>
              <a:t>Graduates will pursue successful careers in the IT industry, academia, or entrepreneurship, continuously updating their knowledge and skills to adapt to evolving technologies.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1">
                <a:solidFill>
                  <a:srgbClr val="000000"/>
                </a:solidFill>
                <a:latin typeface="Verdana"/>
              </a:defRPr>
            </a:pPr>
            <a:r>
              <a:t>PEO 3: Research and Innovation</a:t>
            </a:r>
          </a:p>
          <a:p>
            <a:pPr algn="just">
              <a:lnSpc>
                <a:spcPts val="1500"/>
              </a:lnSpc>
              <a:spcBef>
                <a:spcPts val="400"/>
              </a:spcBef>
              <a:spcAft>
                <a:spcPts val="400"/>
              </a:spcAft>
              <a:defRPr sz="1000" b="0">
                <a:solidFill>
                  <a:srgbClr val="000000"/>
                </a:solidFill>
                <a:latin typeface="Verdana"/>
              </a:defRPr>
            </a:pPr>
            <a:r>
              <a:t>Graduates will engage in research and innovation, contributing to the advancement of computing technologies and addressing societal challenges through technology-driven solutions.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1">
                <a:solidFill>
                  <a:srgbClr val="000000"/>
                </a:solidFill>
                <a:latin typeface="Verdana"/>
              </a:defRPr>
            </a:pPr>
            <a:r>
              <a:t>PEO 4: Ethical and Social Responsibility</a:t>
            </a:r>
          </a:p>
          <a:p>
            <a:pPr algn="just">
              <a:lnSpc>
                <a:spcPts val="1500"/>
              </a:lnSpc>
              <a:spcBef>
                <a:spcPts val="400"/>
              </a:spcBef>
              <a:spcAft>
                <a:spcPts val="400"/>
              </a:spcAft>
              <a:defRPr sz="1000" b="0">
                <a:solidFill>
                  <a:srgbClr val="000000"/>
                </a:solidFill>
                <a:latin typeface="Verdana"/>
              </a:defRPr>
            </a:pPr>
            <a:r>
              <a:t>Graduates will demonstrate ethical conduct, social responsibility, and effective communication skills in their professional and personal endeavors.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lnSpc>
                <a:spcPts val="2700"/>
              </a:lnSpc>
              <a:spcAft>
                <a:spcPts val="600"/>
              </a:spcAft>
              <a:defRPr sz="1800" b="1">
                <a:solidFill>
                  <a:srgbClr val="FFFFFF"/>
                </a:solidFill>
                <a:latin typeface="Verdana"/>
              </a:defRPr>
            </a:pPr>
            <a:r>
              <a:t>PROGRAM OUTCOMES OF B.TECH. CSE</a:t>
            </a:r>
          </a:p>
        </p:txBody>
      </p:sp>
      <p:sp>
        <p:nvSpPr>
          <p:cNvPr id="4" name="TextBox 3"/>
          <p:cNvSpPr txBox="1"/>
          <p:nvPr/>
        </p:nvSpPr>
        <p:spPr>
          <a:xfrm>
            <a:off x="457200" y="914400"/>
            <a:ext cx="10972800" cy="5486400"/>
          </a:xfrm>
          <a:prstGeom prst="rect">
            <a:avLst/>
          </a:prstGeom>
          <a:noFill/>
        </p:spPr>
        <p:txBody>
          <a:bodyPr wrap="square">
            <a:spAutoFit/>
          </a:bodyPr>
          <a:lstStyle/>
          <a:p>
            <a:pPr algn="just">
              <a:lnSpc>
                <a:spcPts val="1300"/>
              </a:lnSpc>
              <a:spcAft>
                <a:spcPts val="600"/>
              </a:spcAft>
              <a:defRPr sz="900" b="0">
                <a:solidFill>
                  <a:srgbClr val="000000"/>
                </a:solidFill>
                <a:latin typeface="Verdana"/>
              </a:defRPr>
            </a:pPr>
            <a:endParaRPr/>
          </a:p>
          <a:p>
            <a:pPr algn="just">
              <a:lnSpc>
                <a:spcPts val="1100"/>
              </a:lnSpc>
              <a:spcBef>
                <a:spcPts val="200"/>
              </a:spcBef>
              <a:spcAft>
                <a:spcPts val="400"/>
              </a:spcAft>
              <a:defRPr sz="900" b="0">
                <a:solidFill>
                  <a:srgbClr val="000000"/>
                </a:solidFill>
                <a:latin typeface="Verdana"/>
              </a:defRPr>
            </a:pPr>
            <a:r>
              <a:t>PO1: Engineering Knowledge: Apply knowledge of mathematics, science, and engineering fundamentals to solve complex computing problems.</a:t>
            </a:r>
          </a:p>
          <a:p>
            <a:pPr algn="just">
              <a:lnSpc>
                <a:spcPts val="1100"/>
              </a:lnSpc>
              <a:spcBef>
                <a:spcPts val="200"/>
              </a:spcBef>
              <a:spcAft>
                <a:spcPts val="400"/>
              </a:spcAft>
              <a:defRPr sz="900" b="0">
                <a:solidFill>
                  <a:srgbClr val="000000"/>
                </a:solidFill>
                <a:latin typeface="Verdana"/>
              </a:defRPr>
            </a:pPr>
            <a:r>
              <a:t>PO2: Problem Analysis: Identify, formulate, and analyze complex computing problems using first principles of mathematics and computer science.</a:t>
            </a:r>
          </a:p>
          <a:p>
            <a:pPr algn="just">
              <a:lnSpc>
                <a:spcPts val="1100"/>
              </a:lnSpc>
              <a:spcBef>
                <a:spcPts val="200"/>
              </a:spcBef>
              <a:spcAft>
                <a:spcPts val="400"/>
              </a:spcAft>
              <a:defRPr sz="900" b="0">
                <a:solidFill>
                  <a:srgbClr val="000000"/>
                </a:solidFill>
                <a:latin typeface="Verdana"/>
              </a:defRPr>
            </a:pPr>
            <a:r>
              <a:t>PO3: Design/Development: Design solutions for complex computing problems and design system components that meet specified needs.</a:t>
            </a:r>
          </a:p>
          <a:p>
            <a:pPr algn="just">
              <a:lnSpc>
                <a:spcPts val="1100"/>
              </a:lnSpc>
              <a:spcBef>
                <a:spcPts val="200"/>
              </a:spcBef>
              <a:spcAft>
                <a:spcPts val="400"/>
              </a:spcAft>
              <a:defRPr sz="900" b="0">
                <a:solidFill>
                  <a:srgbClr val="000000"/>
                </a:solidFill>
                <a:latin typeface="Verdana"/>
              </a:defRPr>
            </a:pPr>
            <a:r>
              <a:t>PO4: Investigation: Use research-based knowledge to investigate complex problems, design experiments, and interpret data.</a:t>
            </a:r>
          </a:p>
          <a:p>
            <a:pPr algn="just">
              <a:lnSpc>
                <a:spcPts val="1100"/>
              </a:lnSpc>
              <a:spcBef>
                <a:spcPts val="200"/>
              </a:spcBef>
              <a:spcAft>
                <a:spcPts val="400"/>
              </a:spcAft>
              <a:defRPr sz="900" b="0">
                <a:solidFill>
                  <a:srgbClr val="000000"/>
                </a:solidFill>
                <a:latin typeface="Verdana"/>
              </a:defRPr>
            </a:pPr>
            <a:r>
              <a:t>PO5: Modern Tool Usage: Create, select, and apply appropriate techniques, resources, and modern tools for computing activities.</a:t>
            </a:r>
          </a:p>
          <a:p>
            <a:pPr algn="just">
              <a:lnSpc>
                <a:spcPts val="1100"/>
              </a:lnSpc>
              <a:spcBef>
                <a:spcPts val="200"/>
              </a:spcBef>
              <a:spcAft>
                <a:spcPts val="400"/>
              </a:spcAft>
              <a:defRPr sz="900" b="0">
                <a:solidFill>
                  <a:srgbClr val="000000"/>
                </a:solidFill>
                <a:latin typeface="Verdana"/>
              </a:defRPr>
            </a:pPr>
            <a:r>
              <a:t>PO6: Engineer and Society: Apply reasoning to assess societal, health, safety, legal, and cultural issues in computing practice.</a:t>
            </a:r>
          </a:p>
          <a:p>
            <a:pPr algn="just">
              <a:lnSpc>
                <a:spcPts val="1100"/>
              </a:lnSpc>
              <a:spcBef>
                <a:spcPts val="200"/>
              </a:spcBef>
              <a:spcAft>
                <a:spcPts val="400"/>
              </a:spcAft>
              <a:defRPr sz="900" b="0">
                <a:solidFill>
                  <a:srgbClr val="000000"/>
                </a:solidFill>
                <a:latin typeface="Verdana"/>
              </a:defRPr>
            </a:pPr>
            <a:r>
              <a:t>PO7: Environment and Sustainability: Understand the impact of computing solutions in societal and environmental contexts.</a:t>
            </a:r>
          </a:p>
          <a:p>
            <a:pPr algn="just">
              <a:lnSpc>
                <a:spcPts val="1100"/>
              </a:lnSpc>
              <a:spcBef>
                <a:spcPts val="200"/>
              </a:spcBef>
              <a:spcAft>
                <a:spcPts val="400"/>
              </a:spcAft>
              <a:defRPr sz="900" b="0">
                <a:solidFill>
                  <a:srgbClr val="000000"/>
                </a:solidFill>
                <a:latin typeface="Verdana"/>
              </a:defRPr>
            </a:pPr>
            <a:r>
              <a:t>PO8: Ethics: Apply ethical principles and commit to professional ethics and responsibilities.</a:t>
            </a:r>
          </a:p>
          <a:p>
            <a:pPr algn="just">
              <a:lnSpc>
                <a:spcPts val="1100"/>
              </a:lnSpc>
              <a:spcBef>
                <a:spcPts val="200"/>
              </a:spcBef>
              <a:spcAft>
                <a:spcPts val="400"/>
              </a:spcAft>
              <a:defRPr sz="900" b="0">
                <a:solidFill>
                  <a:srgbClr val="000000"/>
                </a:solidFill>
                <a:latin typeface="Verdana"/>
              </a:defRPr>
            </a:pPr>
            <a:r>
              <a:t>PO9: Individual and Team Work: Function effectively as an individual and as a member or leader in diverse teams.</a:t>
            </a:r>
          </a:p>
          <a:p>
            <a:pPr algn="just">
              <a:lnSpc>
                <a:spcPts val="1100"/>
              </a:lnSpc>
              <a:spcBef>
                <a:spcPts val="200"/>
              </a:spcBef>
              <a:spcAft>
                <a:spcPts val="400"/>
              </a:spcAft>
              <a:defRPr sz="900" b="0">
                <a:solidFill>
                  <a:srgbClr val="000000"/>
                </a:solidFill>
                <a:latin typeface="Verdana"/>
              </a:defRPr>
            </a:pPr>
            <a:r>
              <a:t>PO10: Communication: Communicate effectively on complex engineering activities with the engineering community and society.</a:t>
            </a:r>
          </a:p>
          <a:p>
            <a:pPr algn="just">
              <a:lnSpc>
                <a:spcPts val="1100"/>
              </a:lnSpc>
              <a:spcBef>
                <a:spcPts val="200"/>
              </a:spcBef>
              <a:spcAft>
                <a:spcPts val="400"/>
              </a:spcAft>
              <a:defRPr sz="900" b="0">
                <a:solidFill>
                  <a:srgbClr val="000000"/>
                </a:solidFill>
                <a:latin typeface="Verdana"/>
              </a:defRPr>
            </a:pPr>
            <a:r>
              <a:t>PO11: Project Management: Demonstrate knowledge of engineering and management principles to manage projects in multidisciplinary environments.</a:t>
            </a:r>
          </a:p>
          <a:p>
            <a:pPr algn="just">
              <a:lnSpc>
                <a:spcPts val="1100"/>
              </a:lnSpc>
              <a:spcBef>
                <a:spcPts val="200"/>
              </a:spcBef>
              <a:spcAft>
                <a:spcPts val="400"/>
              </a:spcAft>
              <a:defRPr sz="900" b="0">
                <a:solidFill>
                  <a:srgbClr val="000000"/>
                </a:solidFill>
                <a:latin typeface="Verdana"/>
              </a:defRPr>
            </a:pPr>
            <a:r>
              <a:t>PO12: Life-long Learning: Recognize the need for and engage in independent and life-long learning in the broadest context of technological change.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PROGRAM SPECIFIC OUTCOMES OF B.TECH. CSE</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1">
                <a:solidFill>
                  <a:srgbClr val="000000"/>
                </a:solidFill>
                <a:latin typeface="Verdana"/>
              </a:defRPr>
            </a:pPr>
            <a:r>
              <a:t>PSO 1: Software Development Proficiency</a:t>
            </a:r>
          </a:p>
          <a:p>
            <a:pPr algn="just">
              <a:lnSpc>
                <a:spcPts val="1500"/>
              </a:lnSpc>
              <a:spcBef>
                <a:spcPts val="400"/>
              </a:spcBef>
              <a:spcAft>
                <a:spcPts val="400"/>
              </a:spcAft>
              <a:defRPr sz="1000" b="0">
                <a:solidFill>
                  <a:srgbClr val="000000"/>
                </a:solidFill>
                <a:latin typeface="Verdana"/>
              </a:defRPr>
            </a:pPr>
            <a:r>
              <a:t>Graduates will be able to design, develop, test, and maintain software applications using modern programming languages, frameworks, and software engineering methodologies, demonstrating proficiency in full-stack development and cloud-native architectures.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1">
                <a:solidFill>
                  <a:srgbClr val="000000"/>
                </a:solidFill>
                <a:latin typeface="Verdana"/>
              </a:defRPr>
            </a:pPr>
            <a:r>
              <a:t>PSO 2: AI/ML and Data Analytics Competence</a:t>
            </a:r>
          </a:p>
          <a:p>
            <a:pPr algn="just">
              <a:lnSpc>
                <a:spcPts val="1500"/>
              </a:lnSpc>
              <a:spcBef>
                <a:spcPts val="400"/>
              </a:spcBef>
              <a:spcAft>
                <a:spcPts val="400"/>
              </a:spcAft>
              <a:defRPr sz="1000" b="0">
                <a:solidFill>
                  <a:srgbClr val="000000"/>
                </a:solidFill>
                <a:latin typeface="Verdana"/>
              </a:defRPr>
            </a:pPr>
            <a:r>
              <a:t>Graduates will be able to apply artificial intelligence, machine learning, and data analytics techniques to solve complex problems in domains such as cybersecurity, healthcare, finance, and e-commerce, leveraging cloud-based AI services and tools.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1">
                <a:solidFill>
                  <a:srgbClr val="000000"/>
                </a:solidFill>
                <a:latin typeface="Verdana"/>
              </a:defRPr>
            </a:pPr>
            <a:r>
              <a:t>PSO 3: Cybersecurity and Cloud Computing Skills</a:t>
            </a:r>
          </a:p>
          <a:p>
            <a:pPr algn="just">
              <a:lnSpc>
                <a:spcPts val="1500"/>
              </a:lnSpc>
              <a:spcBef>
                <a:spcPts val="400"/>
              </a:spcBef>
              <a:spcAft>
                <a:spcPts val="400"/>
              </a:spcAft>
              <a:defRPr sz="1000" b="0">
                <a:solidFill>
                  <a:srgbClr val="000000"/>
                </a:solidFill>
                <a:latin typeface="Verdana"/>
              </a:defRPr>
            </a:pPr>
            <a:r>
              <a:t>Graduates will be able to design and implement secure, scalable, and cost-effective cloud-based solutions, applying cybersecurity principles to protect systems, data, and users from evolving digital threats.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lnSpc>
                <a:spcPts val="2400"/>
              </a:lnSpc>
              <a:spcAft>
                <a:spcPts val="600"/>
              </a:spcAft>
              <a:defRPr sz="1600" b="1">
                <a:solidFill>
                  <a:srgbClr val="FFFFFF"/>
                </a:solidFill>
                <a:latin typeface="Verdana"/>
              </a:defRPr>
            </a:pPr>
            <a:r>
              <a:t>COURSE OUTCOMES AND CO-PO MAPPING OF CAPSTONE PROJECT</a:t>
            </a:r>
          </a:p>
        </p:txBody>
      </p:sp>
      <p:sp>
        <p:nvSpPr>
          <p:cNvPr id="4" name="TextBox 3"/>
          <p:cNvSpPr txBox="1"/>
          <p:nvPr/>
        </p:nvSpPr>
        <p:spPr>
          <a:xfrm>
            <a:off x="457200" y="914400"/>
            <a:ext cx="10972800" cy="228600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400"/>
              </a:lnSpc>
              <a:spcBef>
                <a:spcPts val="300"/>
              </a:spcBef>
              <a:spcAft>
                <a:spcPts val="400"/>
              </a:spcAft>
              <a:defRPr sz="1000" b="0">
                <a:solidFill>
                  <a:srgbClr val="000000"/>
                </a:solidFill>
                <a:latin typeface="Verdana"/>
              </a:defRPr>
            </a:pPr>
            <a:r>
              <a:t>CO1: Identify and analyze real-world problems, formulate project objectives, and define scope and requirements.</a:t>
            </a:r>
          </a:p>
          <a:p>
            <a:pPr algn="just">
              <a:lnSpc>
                <a:spcPts val="1400"/>
              </a:lnSpc>
              <a:spcBef>
                <a:spcPts val="300"/>
              </a:spcBef>
              <a:spcAft>
                <a:spcPts val="400"/>
              </a:spcAft>
              <a:defRPr sz="1000" b="0">
                <a:solidFill>
                  <a:srgbClr val="000000"/>
                </a:solidFill>
                <a:latin typeface="Verdana"/>
              </a:defRPr>
            </a:pPr>
            <a:r>
              <a:t>CO2: Design system architecture and select appropriate technologies, tools, and methodologies for implementation.</a:t>
            </a:r>
          </a:p>
          <a:p>
            <a:pPr algn="just">
              <a:lnSpc>
                <a:spcPts val="1400"/>
              </a:lnSpc>
              <a:spcBef>
                <a:spcPts val="300"/>
              </a:spcBef>
              <a:spcAft>
                <a:spcPts val="400"/>
              </a:spcAft>
              <a:defRPr sz="1000" b="0">
                <a:solidFill>
                  <a:srgbClr val="000000"/>
                </a:solidFill>
                <a:latin typeface="Verdana"/>
              </a:defRPr>
            </a:pPr>
            <a:r>
              <a:t>CO3: Implement the proposed solution using modern programming languages, frameworks, and cloud services.</a:t>
            </a:r>
          </a:p>
          <a:p>
            <a:pPr algn="just">
              <a:lnSpc>
                <a:spcPts val="1400"/>
              </a:lnSpc>
              <a:spcBef>
                <a:spcPts val="300"/>
              </a:spcBef>
              <a:spcAft>
                <a:spcPts val="400"/>
              </a:spcAft>
              <a:defRPr sz="1000" b="0">
                <a:solidFill>
                  <a:srgbClr val="000000"/>
                </a:solidFill>
                <a:latin typeface="Verdana"/>
              </a:defRPr>
            </a:pPr>
            <a:r>
              <a:t>CO4: Test, evaluate, and validate the system against defined requirements and performance metrics.</a:t>
            </a:r>
          </a:p>
          <a:p>
            <a:pPr algn="just">
              <a:lnSpc>
                <a:spcPts val="1400"/>
              </a:lnSpc>
              <a:spcBef>
                <a:spcPts val="300"/>
              </a:spcBef>
              <a:spcAft>
                <a:spcPts val="400"/>
              </a:spcAft>
              <a:defRPr sz="1000" b="0">
                <a:solidFill>
                  <a:srgbClr val="000000"/>
                </a:solidFill>
                <a:latin typeface="Verdana"/>
              </a:defRPr>
            </a:pPr>
            <a:r>
              <a:t>CO5: Document the project work and communicate findings through reports and presentations.</a:t>
            </a:r>
          </a:p>
        </p:txBody>
      </p:sp>
      <p:sp>
        <p:nvSpPr>
          <p:cNvPr id="5" name="TextBox 4"/>
          <p:cNvSpPr txBox="1"/>
          <p:nvPr/>
        </p:nvSpPr>
        <p:spPr>
          <a:xfrm>
            <a:off x="457200" y="3657600"/>
            <a:ext cx="10972800" cy="457200"/>
          </a:xfrm>
          <a:prstGeom prst="rect">
            <a:avLst/>
          </a:prstGeom>
          <a:noFill/>
        </p:spPr>
        <p:txBody>
          <a:bodyPr wrap="square">
            <a:spAutoFit/>
          </a:bodyPr>
          <a:lstStyle/>
          <a:p>
            <a:pPr algn="l">
              <a:lnSpc>
                <a:spcPts val="1600"/>
              </a:lnSpc>
              <a:spcAft>
                <a:spcPts val="600"/>
              </a:spcAft>
              <a:defRPr sz="1100" b="1">
                <a:solidFill>
                  <a:srgbClr val="006994"/>
                </a:solidFill>
                <a:latin typeface="Verdana"/>
              </a:defRPr>
            </a:pPr>
            <a:r>
              <a:t>CO-PO Mapping (3: High, 2: Medium, 1: Low)</a:t>
            </a:r>
          </a:p>
        </p:txBody>
      </p:sp>
      <p:sp>
        <p:nvSpPr>
          <p:cNvPr id="6" name="TextBox 5"/>
          <p:cNvSpPr txBox="1"/>
          <p:nvPr/>
        </p:nvSpPr>
        <p:spPr>
          <a:xfrm>
            <a:off x="457200" y="4114800"/>
            <a:ext cx="10972800" cy="2286000"/>
          </a:xfrm>
          <a:prstGeom prst="rect">
            <a:avLst/>
          </a:prstGeom>
          <a:noFill/>
        </p:spPr>
        <p:txBody>
          <a:bodyPr wrap="square">
            <a:spAutoFit/>
          </a:bodyPr>
          <a:lstStyle/>
          <a:p>
            <a:pPr algn="l">
              <a:lnSpc>
                <a:spcPts val="1100"/>
              </a:lnSpc>
              <a:spcAft>
                <a:spcPts val="600"/>
              </a:spcAft>
              <a:defRPr sz="900" b="0">
                <a:solidFill>
                  <a:srgbClr val="000000"/>
                </a:solidFill>
                <a:latin typeface="Consolas"/>
              </a:defRPr>
            </a:pPr>
            <a:r>
              <a:t>       PO1  PO2  PO3  PO4  PO5  PO6  PO7  PO8  PO9  PO10 PO11 PO12 PSO1 PSO2 PSO3</a:t>
            </a:r>
            <a:br/>
            <a:r>
              <a:t>CO1:    3    3    2    2    1    1    -    -    2    2    2    1    2    2    2</a:t>
            </a:r>
            <a:br/>
            <a:r>
              <a:t>CO2:    2    2    3    2    3    1    1    -    2    1    2    1    3    2    3</a:t>
            </a:r>
            <a:br/>
            <a:r>
              <a:t>CO3:    2    1    3    2    3    -    -    1    2    1    2    2    3    3    3</a:t>
            </a:r>
            <a:br/>
            <a:r>
              <a:t>CO4:    2    2    2    3    3    1    -    1    2    2    2    1    2    3    2</a:t>
            </a:r>
            <a:br/>
            <a:r>
              <a:t>CO5:    1    1    1    1    2    1    1    2    2    3    2    2    1    1    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ctr">
              <a:lnSpc>
                <a:spcPts val="2700"/>
              </a:lnSpc>
              <a:spcAft>
                <a:spcPts val="600"/>
              </a:spcAft>
              <a:defRPr sz="1800" b="1">
                <a:solidFill>
                  <a:srgbClr val="FFFFFF"/>
                </a:solidFill>
                <a:latin typeface="Verdana"/>
              </a:defRPr>
            </a:pPr>
            <a:r>
              <a:t>TABLE OF CONTENTS</a:t>
            </a:r>
          </a:p>
        </p:txBody>
      </p:sp>
      <p:sp>
        <p:nvSpPr>
          <p:cNvPr id="4" name="TextBox 3"/>
          <p:cNvSpPr txBox="1"/>
          <p:nvPr/>
        </p:nvSpPr>
        <p:spPr>
          <a:xfrm>
            <a:off x="1828800" y="1005840"/>
            <a:ext cx="8229600" cy="5486400"/>
          </a:xfrm>
          <a:prstGeom prst="rect">
            <a:avLst/>
          </a:prstGeom>
          <a:noFill/>
        </p:spPr>
        <p:txBody>
          <a:bodyPr wrap="square">
            <a:spAutoFit/>
          </a:bodyPr>
          <a:lstStyle/>
          <a:p>
            <a:pPr algn="l">
              <a:lnSpc>
                <a:spcPts val="1500"/>
              </a:lnSpc>
              <a:spcAft>
                <a:spcPts val="600"/>
              </a:spcAft>
              <a:defRPr sz="1000" b="0">
                <a:solidFill>
                  <a:srgbClr val="000000"/>
                </a:solidFill>
                <a:latin typeface="Verdana"/>
              </a:defRPr>
            </a:pPr>
            <a:endParaRPr/>
          </a:p>
          <a:p>
            <a:pPr algn="l">
              <a:lnSpc>
                <a:spcPts val="1400"/>
              </a:lnSpc>
              <a:spcBef>
                <a:spcPts val="100"/>
              </a:spcBef>
              <a:spcAft>
                <a:spcPts val="400"/>
              </a:spcAft>
              <a:defRPr sz="1000" b="0">
                <a:solidFill>
                  <a:srgbClr val="000000"/>
                </a:solidFill>
                <a:latin typeface="Verdana"/>
              </a:defRPr>
            </a:pPr>
            <a:r>
              <a:t>1.  Certificate</a:t>
            </a:r>
          </a:p>
          <a:p>
            <a:pPr algn="l">
              <a:lnSpc>
                <a:spcPts val="1400"/>
              </a:lnSpc>
              <a:spcBef>
                <a:spcPts val="100"/>
              </a:spcBef>
              <a:spcAft>
                <a:spcPts val="400"/>
              </a:spcAft>
              <a:defRPr sz="1000" b="0">
                <a:solidFill>
                  <a:srgbClr val="000000"/>
                </a:solidFill>
                <a:latin typeface="Verdana"/>
              </a:defRPr>
            </a:pPr>
            <a:r>
              <a:t>2.  Acknowledgement</a:t>
            </a:r>
          </a:p>
          <a:p>
            <a:pPr algn="l">
              <a:lnSpc>
                <a:spcPts val="1400"/>
              </a:lnSpc>
              <a:spcBef>
                <a:spcPts val="100"/>
              </a:spcBef>
              <a:spcAft>
                <a:spcPts val="400"/>
              </a:spcAft>
              <a:defRPr sz="1000" b="0">
                <a:solidFill>
                  <a:srgbClr val="000000"/>
                </a:solidFill>
                <a:latin typeface="Verdana"/>
              </a:defRPr>
            </a:pPr>
            <a:r>
              <a:t>3.  Declaration</a:t>
            </a:r>
          </a:p>
          <a:p>
            <a:pPr algn="l">
              <a:lnSpc>
                <a:spcPts val="1400"/>
              </a:lnSpc>
              <a:spcBef>
                <a:spcPts val="100"/>
              </a:spcBef>
              <a:spcAft>
                <a:spcPts val="400"/>
              </a:spcAft>
              <a:defRPr sz="1000" b="0">
                <a:solidFill>
                  <a:srgbClr val="000000"/>
                </a:solidFill>
                <a:latin typeface="Verdana"/>
              </a:defRPr>
            </a:pPr>
            <a:r>
              <a:t>4.  Vision and Mission of MBU</a:t>
            </a:r>
          </a:p>
          <a:p>
            <a:pPr algn="l">
              <a:lnSpc>
                <a:spcPts val="1400"/>
              </a:lnSpc>
              <a:spcBef>
                <a:spcPts val="100"/>
              </a:spcBef>
              <a:spcAft>
                <a:spcPts val="400"/>
              </a:spcAft>
              <a:defRPr sz="1000" b="0">
                <a:solidFill>
                  <a:srgbClr val="000000"/>
                </a:solidFill>
                <a:latin typeface="Verdana"/>
              </a:defRPr>
            </a:pPr>
            <a:r>
              <a:t>5.  Vision and Mission of School of Computing</a:t>
            </a:r>
          </a:p>
          <a:p>
            <a:pPr algn="l">
              <a:lnSpc>
                <a:spcPts val="1400"/>
              </a:lnSpc>
              <a:spcBef>
                <a:spcPts val="100"/>
              </a:spcBef>
              <a:spcAft>
                <a:spcPts val="400"/>
              </a:spcAft>
              <a:defRPr sz="1000" b="0">
                <a:solidFill>
                  <a:srgbClr val="000000"/>
                </a:solidFill>
                <a:latin typeface="Verdana"/>
              </a:defRPr>
            </a:pPr>
            <a:r>
              <a:t>6.  Vision and Mission of CSE Department</a:t>
            </a:r>
          </a:p>
          <a:p>
            <a:pPr algn="l">
              <a:lnSpc>
                <a:spcPts val="1400"/>
              </a:lnSpc>
              <a:spcBef>
                <a:spcPts val="100"/>
              </a:spcBef>
              <a:spcAft>
                <a:spcPts val="400"/>
              </a:spcAft>
              <a:defRPr sz="1000" b="0">
                <a:solidFill>
                  <a:srgbClr val="000000"/>
                </a:solidFill>
                <a:latin typeface="Verdana"/>
              </a:defRPr>
            </a:pPr>
            <a:r>
              <a:t>7.  Program Educational Objectives</a:t>
            </a:r>
          </a:p>
          <a:p>
            <a:pPr algn="l">
              <a:lnSpc>
                <a:spcPts val="1400"/>
              </a:lnSpc>
              <a:spcBef>
                <a:spcPts val="100"/>
              </a:spcBef>
              <a:spcAft>
                <a:spcPts val="400"/>
              </a:spcAft>
              <a:defRPr sz="1000" b="0">
                <a:solidFill>
                  <a:srgbClr val="000000"/>
                </a:solidFill>
                <a:latin typeface="Verdana"/>
              </a:defRPr>
            </a:pPr>
            <a:r>
              <a:t>8.  Program Outcomes</a:t>
            </a:r>
          </a:p>
          <a:p>
            <a:pPr algn="l">
              <a:lnSpc>
                <a:spcPts val="1400"/>
              </a:lnSpc>
              <a:spcBef>
                <a:spcPts val="100"/>
              </a:spcBef>
              <a:spcAft>
                <a:spcPts val="400"/>
              </a:spcAft>
              <a:defRPr sz="1000" b="0">
                <a:solidFill>
                  <a:srgbClr val="000000"/>
                </a:solidFill>
                <a:latin typeface="Verdana"/>
              </a:defRPr>
            </a:pPr>
            <a:r>
              <a:t>9.  Program Specific Outcomes</a:t>
            </a:r>
          </a:p>
          <a:p>
            <a:pPr algn="l">
              <a:lnSpc>
                <a:spcPts val="1400"/>
              </a:lnSpc>
              <a:spcBef>
                <a:spcPts val="100"/>
              </a:spcBef>
              <a:spcAft>
                <a:spcPts val="400"/>
              </a:spcAft>
              <a:defRPr sz="1000" b="0">
                <a:solidFill>
                  <a:srgbClr val="000000"/>
                </a:solidFill>
                <a:latin typeface="Verdana"/>
              </a:defRPr>
            </a:pPr>
            <a:r>
              <a:t>10.  Course Outcomes and CO-PO Mapping</a:t>
            </a:r>
          </a:p>
          <a:p>
            <a:pPr algn="l">
              <a:lnSpc>
                <a:spcPts val="1400"/>
              </a:lnSpc>
              <a:spcBef>
                <a:spcPts val="100"/>
              </a:spcBef>
              <a:spcAft>
                <a:spcPts val="400"/>
              </a:spcAft>
              <a:defRPr sz="1000" b="0">
                <a:solidFill>
                  <a:srgbClr val="000000"/>
                </a:solidFill>
                <a:latin typeface="Verdana"/>
              </a:defRPr>
            </a:pPr>
            <a:r>
              <a:t>11.  Abstract</a:t>
            </a:r>
          </a:p>
          <a:p>
            <a:pPr algn="l">
              <a:lnSpc>
                <a:spcPts val="1400"/>
              </a:lnSpc>
              <a:spcBef>
                <a:spcPts val="100"/>
              </a:spcBef>
              <a:spcAft>
                <a:spcPts val="400"/>
              </a:spcAft>
              <a:defRPr sz="1000" b="0">
                <a:solidFill>
                  <a:srgbClr val="000000"/>
                </a:solidFill>
                <a:latin typeface="Verdana"/>
              </a:defRPr>
            </a:pPr>
            <a:r>
              <a:t>12.  List of Acronyms</a:t>
            </a:r>
          </a:p>
          <a:p>
            <a:pPr algn="l">
              <a:lnSpc>
                <a:spcPts val="1400"/>
              </a:lnSpc>
              <a:spcBef>
                <a:spcPts val="100"/>
              </a:spcBef>
              <a:spcAft>
                <a:spcPts val="400"/>
              </a:spcAft>
              <a:defRPr sz="1000" b="0">
                <a:solidFill>
                  <a:srgbClr val="000000"/>
                </a:solidFill>
                <a:latin typeface="Verdana"/>
              </a:defRPr>
            </a:pPr>
            <a:r>
              <a:t>13.  List of Figures</a:t>
            </a:r>
          </a:p>
          <a:p>
            <a:pPr algn="l">
              <a:lnSpc>
                <a:spcPts val="1400"/>
              </a:lnSpc>
              <a:spcBef>
                <a:spcPts val="100"/>
              </a:spcBef>
              <a:spcAft>
                <a:spcPts val="400"/>
              </a:spcAft>
              <a:defRPr sz="1000" b="0">
                <a:solidFill>
                  <a:srgbClr val="000000"/>
                </a:solidFill>
                <a:latin typeface="Verdana"/>
              </a:defRPr>
            </a:pPr>
            <a:r>
              <a:t>14.  List of Tables</a:t>
            </a:r>
          </a:p>
          <a:p>
            <a:pPr algn="l">
              <a:lnSpc>
                <a:spcPts val="1400"/>
              </a:lnSpc>
              <a:spcBef>
                <a:spcPts val="100"/>
              </a:spcBef>
              <a:spcAft>
                <a:spcPts val="400"/>
              </a:spcAft>
              <a:defRPr sz="1000" b="0">
                <a:solidFill>
                  <a:srgbClr val="000000"/>
                </a:solidFill>
                <a:latin typeface="Verdana"/>
              </a:defRPr>
            </a:pPr>
            <a:r>
              <a:t>15.  Chapter 1: Introduction</a:t>
            </a:r>
          </a:p>
          <a:p>
            <a:pPr algn="l">
              <a:lnSpc>
                <a:spcPts val="1400"/>
              </a:lnSpc>
              <a:spcBef>
                <a:spcPts val="100"/>
              </a:spcBef>
              <a:spcAft>
                <a:spcPts val="400"/>
              </a:spcAft>
              <a:defRPr sz="1000" b="0">
                <a:solidFill>
                  <a:srgbClr val="000000"/>
                </a:solidFill>
                <a:latin typeface="Verdana"/>
              </a:defRPr>
            </a:pPr>
            <a:r>
              <a:t>16.  Chapter 2: Literature Survey</a:t>
            </a:r>
          </a:p>
          <a:p>
            <a:pPr algn="l">
              <a:lnSpc>
                <a:spcPts val="1400"/>
              </a:lnSpc>
              <a:spcBef>
                <a:spcPts val="100"/>
              </a:spcBef>
              <a:spcAft>
                <a:spcPts val="400"/>
              </a:spcAft>
              <a:defRPr sz="1000" b="0">
                <a:solidFill>
                  <a:srgbClr val="000000"/>
                </a:solidFill>
                <a:latin typeface="Verdana"/>
              </a:defRPr>
            </a:pPr>
            <a:r>
              <a:t>17.  Chapter 3: Analysis and Design</a:t>
            </a:r>
          </a:p>
          <a:p>
            <a:pPr algn="l">
              <a:lnSpc>
                <a:spcPts val="1400"/>
              </a:lnSpc>
              <a:spcBef>
                <a:spcPts val="100"/>
              </a:spcBef>
              <a:spcAft>
                <a:spcPts val="400"/>
              </a:spcAft>
              <a:defRPr sz="1000" b="0">
                <a:solidFill>
                  <a:srgbClr val="000000"/>
                </a:solidFill>
                <a:latin typeface="Verdana"/>
              </a:defRPr>
            </a:pPr>
            <a:r>
              <a:t>18.  Chapter 4: Implementation</a:t>
            </a:r>
          </a:p>
          <a:p>
            <a:pPr algn="l">
              <a:lnSpc>
                <a:spcPts val="1400"/>
              </a:lnSpc>
              <a:spcBef>
                <a:spcPts val="100"/>
              </a:spcBef>
              <a:spcAft>
                <a:spcPts val="400"/>
              </a:spcAft>
              <a:defRPr sz="1000" b="0">
                <a:solidFill>
                  <a:srgbClr val="000000"/>
                </a:solidFill>
                <a:latin typeface="Verdana"/>
              </a:defRPr>
            </a:pPr>
            <a:r>
              <a:t>19.  Chapter 5: Execution Procedure and Testing</a:t>
            </a:r>
          </a:p>
          <a:p>
            <a:pPr algn="l">
              <a:lnSpc>
                <a:spcPts val="1400"/>
              </a:lnSpc>
              <a:spcBef>
                <a:spcPts val="100"/>
              </a:spcBef>
              <a:spcAft>
                <a:spcPts val="400"/>
              </a:spcAft>
              <a:defRPr sz="1000" b="0">
                <a:solidFill>
                  <a:srgbClr val="000000"/>
                </a:solidFill>
                <a:latin typeface="Verdana"/>
              </a:defRPr>
            </a:pPr>
            <a:r>
              <a:t>20.  Chapter 6: Results and Performance Evaluation</a:t>
            </a:r>
          </a:p>
          <a:p>
            <a:pPr algn="l">
              <a:lnSpc>
                <a:spcPts val="1400"/>
              </a:lnSpc>
              <a:spcBef>
                <a:spcPts val="100"/>
              </a:spcBef>
              <a:spcAft>
                <a:spcPts val="400"/>
              </a:spcAft>
              <a:defRPr sz="1000" b="0">
                <a:solidFill>
                  <a:srgbClr val="000000"/>
                </a:solidFill>
                <a:latin typeface="Verdana"/>
              </a:defRPr>
            </a:pPr>
            <a:r>
              <a:t>21.  Chapter 7: Conclusion and Future Work</a:t>
            </a:r>
          </a:p>
          <a:p>
            <a:pPr algn="l">
              <a:lnSpc>
                <a:spcPts val="1400"/>
              </a:lnSpc>
              <a:spcBef>
                <a:spcPts val="100"/>
              </a:spcBef>
              <a:spcAft>
                <a:spcPts val="400"/>
              </a:spcAft>
              <a:defRPr sz="1000" b="0">
                <a:solidFill>
                  <a:srgbClr val="000000"/>
                </a:solidFill>
                <a:latin typeface="Verdana"/>
              </a:defRPr>
            </a:pPr>
            <a:r>
              <a:t>22.  References</a:t>
            </a:r>
          </a:p>
          <a:p>
            <a:pPr algn="l">
              <a:lnSpc>
                <a:spcPts val="1400"/>
              </a:lnSpc>
              <a:spcBef>
                <a:spcPts val="100"/>
              </a:spcBef>
              <a:spcAft>
                <a:spcPts val="400"/>
              </a:spcAft>
              <a:defRPr sz="1000" b="0">
                <a:solidFill>
                  <a:srgbClr val="000000"/>
                </a:solidFill>
                <a:latin typeface="Verdana"/>
              </a:defRPr>
            </a:pPr>
            <a:r>
              <a:t>23.  Research Papers Published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ABSTRACT</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Phishing attacks continue to evolve in sophistication, yet most detection systems rely on static datasets and single-modal analysis that struggle to adapt to emerging threats. This project introduces </a:t>
            </a:r>
            <a:r>
              <a:rPr dirty="0" err="1"/>
              <a:t>SafeClick</a:t>
            </a:r>
            <a:r>
              <a:rPr dirty="0"/>
              <a:t> Enhanced, an advanced cloud-native solution that combines Large Language Models (LLMs) with computer vision and domain intelligence for real-time phishing website detection. Built on AWS serverless architecture, the system employs Amazon Bedrock's Nova Premier for contextual analysis, Amazon Rekognition for visual brand detection, and heuristic domain analysis for pattern recognition. Unlike traditional approaches that depend on pre-collected datasets and periodic retraining, </a:t>
            </a:r>
            <a:r>
              <a:rPr dirty="0" err="1"/>
              <a:t>SafeClick</a:t>
            </a:r>
            <a:r>
              <a:rPr dirty="0"/>
              <a:t> Enhanced processes previously unseen URLs in real-time through a multi-signal detection pipeline that analyzes textual content, visual elements, and domain characteristics simultaneously. The enhanced system implements intelligent domain whitelisting for trusted sites, achieving sub-100ms response times for legitimate domains while maintaining comprehensive analysis for suspicious URLs. Our evaluation shows accuracy improvements from 99.4% to 99.7% while maintaining operational efficiency at approximately $0.011 per URL analysis. The serverless implementation eliminates infrastructure management overhead and provides cost-predictable scaling, making advanced multi-modal phishing detection accessible to organizations of all sizes.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lnSpc>
                <a:spcPts val="2700"/>
              </a:lnSpc>
              <a:spcAft>
                <a:spcPts val="600"/>
              </a:spcAft>
              <a:defRPr sz="1800" b="1">
                <a:solidFill>
                  <a:srgbClr val="FFFFFF"/>
                </a:solidFill>
                <a:latin typeface="Verdana"/>
              </a:defRPr>
            </a:pPr>
            <a:r>
              <a:t>LIST OF ACRONYMS</a:t>
            </a:r>
          </a:p>
        </p:txBody>
      </p:sp>
      <p:sp>
        <p:nvSpPr>
          <p:cNvPr id="4" name="TextBox 3"/>
          <p:cNvSpPr txBox="1"/>
          <p:nvPr/>
        </p:nvSpPr>
        <p:spPr>
          <a:xfrm>
            <a:off x="1066647" y="1123827"/>
            <a:ext cx="10058400" cy="4911922"/>
          </a:xfrm>
          <a:prstGeom prst="rect">
            <a:avLst/>
          </a:prstGeom>
          <a:noFill/>
        </p:spPr>
        <p:txBody>
          <a:bodyPr wrap="square">
            <a:spAutoFit/>
          </a:bodyPr>
          <a:lstStyle/>
          <a:p>
            <a:pPr algn="l">
              <a:lnSpc>
                <a:spcPts val="1500"/>
              </a:lnSpc>
              <a:spcAft>
                <a:spcPts val="600"/>
              </a:spcAft>
              <a:defRPr sz="1000" b="0">
                <a:solidFill>
                  <a:srgbClr val="000000"/>
                </a:solidFill>
                <a:latin typeface="Verdana"/>
              </a:defRPr>
            </a:pPr>
            <a:endParaRPr dirty="0"/>
          </a:p>
          <a:p>
            <a:pPr algn="l">
              <a:lnSpc>
                <a:spcPts val="1300"/>
              </a:lnSpc>
              <a:spcBef>
                <a:spcPts val="100"/>
              </a:spcBef>
              <a:spcAft>
                <a:spcPts val="400"/>
              </a:spcAft>
              <a:defRPr sz="1000" b="0">
                <a:solidFill>
                  <a:srgbClr val="000000"/>
                </a:solidFill>
                <a:latin typeface="Verdana"/>
              </a:defRPr>
            </a:pPr>
            <a:r>
              <a:rPr dirty="0"/>
              <a:t>AI                  Artificial Intelligence</a:t>
            </a:r>
          </a:p>
          <a:p>
            <a:pPr algn="l">
              <a:lnSpc>
                <a:spcPts val="1300"/>
              </a:lnSpc>
              <a:spcBef>
                <a:spcPts val="100"/>
              </a:spcBef>
              <a:spcAft>
                <a:spcPts val="400"/>
              </a:spcAft>
              <a:defRPr sz="1000" b="0">
                <a:solidFill>
                  <a:srgbClr val="000000"/>
                </a:solidFill>
                <a:latin typeface="Verdana"/>
              </a:defRPr>
            </a:pPr>
            <a:r>
              <a:rPr dirty="0"/>
              <a:t>API                 Application Programming Interface</a:t>
            </a:r>
          </a:p>
          <a:p>
            <a:pPr algn="l">
              <a:lnSpc>
                <a:spcPts val="1300"/>
              </a:lnSpc>
              <a:spcBef>
                <a:spcPts val="100"/>
              </a:spcBef>
              <a:spcAft>
                <a:spcPts val="400"/>
              </a:spcAft>
              <a:defRPr sz="1000" b="0">
                <a:solidFill>
                  <a:srgbClr val="000000"/>
                </a:solidFill>
                <a:latin typeface="Verdana"/>
              </a:defRPr>
            </a:pPr>
            <a:r>
              <a:rPr dirty="0"/>
              <a:t>AWS                 Amazon Web Services</a:t>
            </a:r>
          </a:p>
          <a:p>
            <a:pPr algn="l">
              <a:lnSpc>
                <a:spcPts val="1300"/>
              </a:lnSpc>
              <a:spcBef>
                <a:spcPts val="100"/>
              </a:spcBef>
              <a:spcAft>
                <a:spcPts val="400"/>
              </a:spcAft>
              <a:defRPr sz="1000" b="0">
                <a:solidFill>
                  <a:srgbClr val="000000"/>
                </a:solidFill>
                <a:latin typeface="Verdana"/>
              </a:defRPr>
            </a:pPr>
            <a:r>
              <a:rPr dirty="0"/>
              <a:t>CORS                Cross-Origin Resource Sharing</a:t>
            </a:r>
          </a:p>
          <a:p>
            <a:pPr algn="l">
              <a:lnSpc>
                <a:spcPts val="1300"/>
              </a:lnSpc>
              <a:spcBef>
                <a:spcPts val="100"/>
              </a:spcBef>
              <a:spcAft>
                <a:spcPts val="400"/>
              </a:spcAft>
              <a:defRPr sz="1000" b="0">
                <a:solidFill>
                  <a:srgbClr val="000000"/>
                </a:solidFill>
                <a:latin typeface="Verdana"/>
              </a:defRPr>
            </a:pPr>
            <a:r>
              <a:rPr dirty="0"/>
              <a:t>CV                  Computer Vision</a:t>
            </a:r>
          </a:p>
          <a:p>
            <a:pPr algn="l">
              <a:lnSpc>
                <a:spcPts val="1300"/>
              </a:lnSpc>
              <a:spcBef>
                <a:spcPts val="100"/>
              </a:spcBef>
              <a:spcAft>
                <a:spcPts val="400"/>
              </a:spcAft>
              <a:defRPr sz="1000" b="0">
                <a:solidFill>
                  <a:srgbClr val="000000"/>
                </a:solidFill>
                <a:latin typeface="Verdana"/>
              </a:defRPr>
            </a:pPr>
            <a:r>
              <a:rPr dirty="0"/>
              <a:t>DDoS                Distributed Denial of Service</a:t>
            </a:r>
          </a:p>
          <a:p>
            <a:pPr algn="l">
              <a:lnSpc>
                <a:spcPts val="1300"/>
              </a:lnSpc>
              <a:spcBef>
                <a:spcPts val="100"/>
              </a:spcBef>
              <a:spcAft>
                <a:spcPts val="400"/>
              </a:spcAft>
              <a:defRPr sz="1000" b="0">
                <a:solidFill>
                  <a:srgbClr val="000000"/>
                </a:solidFill>
                <a:latin typeface="Verdana"/>
              </a:defRPr>
            </a:pPr>
            <a:r>
              <a:rPr dirty="0"/>
              <a:t>DynamoDB            Amazon DynamoDB (NoSQL Database)</a:t>
            </a:r>
          </a:p>
          <a:p>
            <a:pPr algn="l">
              <a:lnSpc>
                <a:spcPts val="1300"/>
              </a:lnSpc>
              <a:spcBef>
                <a:spcPts val="100"/>
              </a:spcBef>
              <a:spcAft>
                <a:spcPts val="400"/>
              </a:spcAft>
              <a:defRPr sz="1000" b="0">
                <a:solidFill>
                  <a:srgbClr val="000000"/>
                </a:solidFill>
                <a:latin typeface="Verdana"/>
              </a:defRPr>
            </a:pPr>
            <a:r>
              <a:rPr dirty="0"/>
              <a:t>GSI                 Global Secondary Index</a:t>
            </a:r>
          </a:p>
          <a:p>
            <a:pPr algn="l">
              <a:lnSpc>
                <a:spcPts val="1300"/>
              </a:lnSpc>
              <a:spcBef>
                <a:spcPts val="100"/>
              </a:spcBef>
              <a:spcAft>
                <a:spcPts val="400"/>
              </a:spcAft>
              <a:defRPr sz="1000" b="0">
                <a:solidFill>
                  <a:srgbClr val="000000"/>
                </a:solidFill>
                <a:latin typeface="Verdana"/>
              </a:defRPr>
            </a:pPr>
            <a:r>
              <a:rPr dirty="0"/>
              <a:t>HTML                </a:t>
            </a:r>
            <a:r>
              <a:rPr dirty="0" err="1"/>
              <a:t>HyperText</a:t>
            </a:r>
            <a:r>
              <a:rPr dirty="0"/>
              <a:t> Markup Language</a:t>
            </a:r>
          </a:p>
          <a:p>
            <a:pPr algn="l">
              <a:lnSpc>
                <a:spcPts val="1300"/>
              </a:lnSpc>
              <a:spcBef>
                <a:spcPts val="100"/>
              </a:spcBef>
              <a:spcAft>
                <a:spcPts val="400"/>
              </a:spcAft>
              <a:defRPr sz="1000" b="0">
                <a:solidFill>
                  <a:srgbClr val="000000"/>
                </a:solidFill>
                <a:latin typeface="Verdana"/>
              </a:defRPr>
            </a:pPr>
            <a:r>
              <a:rPr dirty="0"/>
              <a:t>IAM                 Identity and Access Management</a:t>
            </a:r>
          </a:p>
          <a:p>
            <a:pPr algn="l">
              <a:lnSpc>
                <a:spcPts val="1300"/>
              </a:lnSpc>
              <a:spcBef>
                <a:spcPts val="100"/>
              </a:spcBef>
              <a:spcAft>
                <a:spcPts val="400"/>
              </a:spcAft>
              <a:defRPr sz="1000" b="0">
                <a:solidFill>
                  <a:srgbClr val="000000"/>
                </a:solidFill>
                <a:latin typeface="Verdana"/>
              </a:defRPr>
            </a:pPr>
            <a:r>
              <a:rPr dirty="0"/>
              <a:t>LLM                 Large Language Model</a:t>
            </a:r>
          </a:p>
          <a:p>
            <a:pPr algn="l">
              <a:lnSpc>
                <a:spcPts val="1300"/>
              </a:lnSpc>
              <a:spcBef>
                <a:spcPts val="100"/>
              </a:spcBef>
              <a:spcAft>
                <a:spcPts val="400"/>
              </a:spcAft>
              <a:defRPr sz="1000" b="0">
                <a:solidFill>
                  <a:srgbClr val="000000"/>
                </a:solidFill>
                <a:latin typeface="Verdana"/>
              </a:defRPr>
            </a:pPr>
            <a:r>
              <a:rPr dirty="0"/>
              <a:t>ML                  Machine Learning</a:t>
            </a:r>
          </a:p>
          <a:p>
            <a:pPr algn="l">
              <a:lnSpc>
                <a:spcPts val="1300"/>
              </a:lnSpc>
              <a:spcBef>
                <a:spcPts val="100"/>
              </a:spcBef>
              <a:spcAft>
                <a:spcPts val="400"/>
              </a:spcAft>
              <a:defRPr sz="1000" b="0">
                <a:solidFill>
                  <a:srgbClr val="000000"/>
                </a:solidFill>
                <a:latin typeface="Verdana"/>
              </a:defRPr>
            </a:pPr>
            <a:r>
              <a:rPr dirty="0"/>
              <a:t>OCR                 Optical Character Recognition</a:t>
            </a:r>
          </a:p>
          <a:p>
            <a:pPr algn="l">
              <a:lnSpc>
                <a:spcPts val="1300"/>
              </a:lnSpc>
              <a:spcBef>
                <a:spcPts val="100"/>
              </a:spcBef>
              <a:spcAft>
                <a:spcPts val="400"/>
              </a:spcAft>
              <a:defRPr sz="1000" b="0">
                <a:solidFill>
                  <a:srgbClr val="000000"/>
                </a:solidFill>
                <a:latin typeface="Verdana"/>
              </a:defRPr>
            </a:pPr>
            <a:r>
              <a:rPr dirty="0" err="1"/>
              <a:t>PhaaS</a:t>
            </a:r>
            <a:r>
              <a:rPr dirty="0"/>
              <a:t>               Phishing-as-a-Service</a:t>
            </a:r>
          </a:p>
          <a:p>
            <a:pPr algn="l">
              <a:lnSpc>
                <a:spcPts val="1300"/>
              </a:lnSpc>
              <a:spcBef>
                <a:spcPts val="100"/>
              </a:spcBef>
              <a:spcAft>
                <a:spcPts val="400"/>
              </a:spcAft>
              <a:defRPr sz="1000" b="0">
                <a:solidFill>
                  <a:srgbClr val="000000"/>
                </a:solidFill>
                <a:latin typeface="Verdana"/>
              </a:defRPr>
            </a:pPr>
            <a:r>
              <a:rPr dirty="0"/>
              <a:t>S3                  Amazon Simple Storage Service</a:t>
            </a:r>
          </a:p>
          <a:p>
            <a:pPr algn="l">
              <a:lnSpc>
                <a:spcPts val="1300"/>
              </a:lnSpc>
              <a:spcBef>
                <a:spcPts val="100"/>
              </a:spcBef>
              <a:spcAft>
                <a:spcPts val="400"/>
              </a:spcAft>
              <a:defRPr sz="1000" b="0">
                <a:solidFill>
                  <a:srgbClr val="000000"/>
                </a:solidFill>
                <a:latin typeface="Verdana"/>
              </a:defRPr>
            </a:pPr>
            <a:r>
              <a:rPr dirty="0"/>
              <a:t>SAM                 Serverless Application Model</a:t>
            </a:r>
          </a:p>
          <a:p>
            <a:pPr algn="l">
              <a:lnSpc>
                <a:spcPts val="1300"/>
              </a:lnSpc>
              <a:spcBef>
                <a:spcPts val="100"/>
              </a:spcBef>
              <a:spcAft>
                <a:spcPts val="400"/>
              </a:spcAft>
              <a:defRPr sz="1000" b="0">
                <a:solidFill>
                  <a:srgbClr val="000000"/>
                </a:solidFill>
                <a:latin typeface="Verdana"/>
              </a:defRPr>
            </a:pPr>
            <a:r>
              <a:rPr dirty="0"/>
              <a:t>TLD                 Top-Level Domain</a:t>
            </a:r>
          </a:p>
          <a:p>
            <a:pPr algn="l">
              <a:lnSpc>
                <a:spcPts val="1300"/>
              </a:lnSpc>
              <a:spcBef>
                <a:spcPts val="100"/>
              </a:spcBef>
              <a:spcAft>
                <a:spcPts val="400"/>
              </a:spcAft>
              <a:defRPr sz="1000" b="0">
                <a:solidFill>
                  <a:srgbClr val="000000"/>
                </a:solidFill>
                <a:latin typeface="Verdana"/>
              </a:defRPr>
            </a:pPr>
            <a:r>
              <a:rPr dirty="0"/>
              <a:t>TTL                 Time to Live</a:t>
            </a:r>
          </a:p>
          <a:p>
            <a:pPr algn="l">
              <a:lnSpc>
                <a:spcPts val="1300"/>
              </a:lnSpc>
              <a:spcBef>
                <a:spcPts val="100"/>
              </a:spcBef>
              <a:spcAft>
                <a:spcPts val="400"/>
              </a:spcAft>
              <a:defRPr sz="1000" b="0">
                <a:solidFill>
                  <a:srgbClr val="000000"/>
                </a:solidFill>
                <a:latin typeface="Verdana"/>
              </a:defRPr>
            </a:pPr>
            <a:r>
              <a:rPr dirty="0"/>
              <a:t>URL                 Uniform Resource Locator</a:t>
            </a:r>
          </a:p>
          <a:p>
            <a:pPr algn="l">
              <a:lnSpc>
                <a:spcPts val="1300"/>
              </a:lnSpc>
              <a:spcBef>
                <a:spcPts val="100"/>
              </a:spcBef>
              <a:spcAft>
                <a:spcPts val="400"/>
              </a:spcAft>
              <a:defRPr sz="1000" b="0">
                <a:solidFill>
                  <a:srgbClr val="000000"/>
                </a:solidFill>
                <a:latin typeface="Verdana"/>
              </a:defRPr>
            </a:pPr>
            <a:r>
              <a:rPr dirty="0"/>
              <a:t>UUID                Universally Unique Identifier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LIST OF FIGURES</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Figure 1.1    General Architecture of Phishing Detection Systems</a:t>
            </a:r>
          </a:p>
          <a:p>
            <a:pPr algn="just">
              <a:lnSpc>
                <a:spcPts val="1500"/>
              </a:lnSpc>
              <a:spcBef>
                <a:spcPts val="400"/>
              </a:spcBef>
              <a:spcAft>
                <a:spcPts val="400"/>
              </a:spcAft>
              <a:defRPr sz="1000" b="0">
                <a:solidFill>
                  <a:srgbClr val="000000"/>
                </a:solidFill>
                <a:latin typeface="Verdana"/>
              </a:defRPr>
            </a:pPr>
            <a:r>
              <a:t>Figure 1.2    Evolution of Phishing Attack Techniques</a:t>
            </a:r>
          </a:p>
          <a:p>
            <a:pPr algn="just">
              <a:lnSpc>
                <a:spcPts val="1500"/>
              </a:lnSpc>
              <a:spcBef>
                <a:spcPts val="400"/>
              </a:spcBef>
              <a:spcAft>
                <a:spcPts val="400"/>
              </a:spcAft>
              <a:defRPr sz="1000" b="0">
                <a:solidFill>
                  <a:srgbClr val="000000"/>
                </a:solidFill>
                <a:latin typeface="Verdana"/>
              </a:defRPr>
            </a:pPr>
            <a:r>
              <a:t>Figure 3.1    SafeClick Enhanced System Architecture (AWS Cloud)</a:t>
            </a:r>
          </a:p>
          <a:p>
            <a:pPr algn="just">
              <a:lnSpc>
                <a:spcPts val="1500"/>
              </a:lnSpc>
              <a:spcBef>
                <a:spcPts val="400"/>
              </a:spcBef>
              <a:spcAft>
                <a:spcPts val="400"/>
              </a:spcAft>
              <a:defRPr sz="1000" b="0">
                <a:solidFill>
                  <a:srgbClr val="000000"/>
                </a:solidFill>
                <a:latin typeface="Verdana"/>
              </a:defRPr>
            </a:pPr>
            <a:r>
              <a:t>Figure 3.2    Multi-Modal Detection Pipeline</a:t>
            </a:r>
          </a:p>
          <a:p>
            <a:pPr algn="just">
              <a:lnSpc>
                <a:spcPts val="1500"/>
              </a:lnSpc>
              <a:spcBef>
                <a:spcPts val="400"/>
              </a:spcBef>
              <a:spcAft>
                <a:spcPts val="400"/>
              </a:spcAft>
              <a:defRPr sz="1000" b="0">
                <a:solidFill>
                  <a:srgbClr val="000000"/>
                </a:solidFill>
                <a:latin typeface="Verdana"/>
              </a:defRPr>
            </a:pPr>
            <a:r>
              <a:t>Figure 3.3    Enhanced Risk Scoring Algorithm Flowchart</a:t>
            </a:r>
          </a:p>
          <a:p>
            <a:pPr algn="just">
              <a:lnSpc>
                <a:spcPts val="1500"/>
              </a:lnSpc>
              <a:spcBef>
                <a:spcPts val="400"/>
              </a:spcBef>
              <a:spcAft>
                <a:spcPts val="400"/>
              </a:spcAft>
              <a:defRPr sz="1000" b="0">
                <a:solidFill>
                  <a:srgbClr val="000000"/>
                </a:solidFill>
                <a:latin typeface="Verdana"/>
              </a:defRPr>
            </a:pPr>
            <a:r>
              <a:t>Figure 3.4    Domain Whitelisting Decision Flow</a:t>
            </a:r>
          </a:p>
          <a:p>
            <a:pPr algn="just">
              <a:lnSpc>
                <a:spcPts val="1500"/>
              </a:lnSpc>
              <a:spcBef>
                <a:spcPts val="400"/>
              </a:spcBef>
              <a:spcAft>
                <a:spcPts val="400"/>
              </a:spcAft>
              <a:defRPr sz="1000" b="0">
                <a:solidFill>
                  <a:srgbClr val="000000"/>
                </a:solidFill>
                <a:latin typeface="Verdana"/>
              </a:defRPr>
            </a:pPr>
            <a:r>
              <a:t>Figure 4.1    AWS Lambda Function Architecture</a:t>
            </a:r>
          </a:p>
          <a:p>
            <a:pPr algn="just">
              <a:lnSpc>
                <a:spcPts val="1500"/>
              </a:lnSpc>
              <a:spcBef>
                <a:spcPts val="400"/>
              </a:spcBef>
              <a:spcAft>
                <a:spcPts val="400"/>
              </a:spcAft>
              <a:defRPr sz="1000" b="0">
                <a:solidFill>
                  <a:srgbClr val="000000"/>
                </a:solidFill>
                <a:latin typeface="Verdana"/>
              </a:defRPr>
            </a:pPr>
            <a:r>
              <a:t>Figure 4.2    Analyzer Function Processing Flow</a:t>
            </a:r>
          </a:p>
          <a:p>
            <a:pPr algn="just">
              <a:lnSpc>
                <a:spcPts val="1500"/>
              </a:lnSpc>
              <a:spcBef>
                <a:spcPts val="400"/>
              </a:spcBef>
              <a:spcAft>
                <a:spcPts val="400"/>
              </a:spcAft>
              <a:defRPr sz="1000" b="0">
                <a:solidFill>
                  <a:srgbClr val="000000"/>
                </a:solidFill>
                <a:latin typeface="Verdana"/>
              </a:defRPr>
            </a:pPr>
            <a:r>
              <a:t>Figure 4.3    Amazon Rekognition Integration Pipeline</a:t>
            </a:r>
          </a:p>
          <a:p>
            <a:pPr algn="just">
              <a:lnSpc>
                <a:spcPts val="1500"/>
              </a:lnSpc>
              <a:spcBef>
                <a:spcPts val="400"/>
              </a:spcBef>
              <a:spcAft>
                <a:spcPts val="400"/>
              </a:spcAft>
              <a:defRPr sz="1000" b="0">
                <a:solidFill>
                  <a:srgbClr val="000000"/>
                </a:solidFill>
                <a:latin typeface="Verdana"/>
              </a:defRPr>
            </a:pPr>
            <a:r>
              <a:t>Figure 4.4    DynamoDB Table Schema with GSI</a:t>
            </a:r>
          </a:p>
          <a:p>
            <a:pPr algn="just">
              <a:lnSpc>
                <a:spcPts val="1500"/>
              </a:lnSpc>
              <a:spcBef>
                <a:spcPts val="400"/>
              </a:spcBef>
              <a:spcAft>
                <a:spcPts val="400"/>
              </a:spcAft>
              <a:defRPr sz="1000" b="0">
                <a:solidFill>
                  <a:srgbClr val="000000"/>
                </a:solidFill>
                <a:latin typeface="Verdana"/>
              </a:defRPr>
            </a:pPr>
            <a:r>
              <a:t>Figure 5.1    Test Execution Environment Setup</a:t>
            </a:r>
          </a:p>
          <a:p>
            <a:pPr algn="just">
              <a:lnSpc>
                <a:spcPts val="1500"/>
              </a:lnSpc>
              <a:spcBef>
                <a:spcPts val="400"/>
              </a:spcBef>
              <a:spcAft>
                <a:spcPts val="400"/>
              </a:spcAft>
              <a:defRPr sz="1000" b="0">
                <a:solidFill>
                  <a:srgbClr val="000000"/>
                </a:solidFill>
                <a:latin typeface="Verdana"/>
              </a:defRPr>
            </a:pPr>
            <a:r>
              <a:t>Figure 5.2    Brand Impersonation Detection Example</a:t>
            </a:r>
          </a:p>
          <a:p>
            <a:pPr algn="just">
              <a:lnSpc>
                <a:spcPts val="1500"/>
              </a:lnSpc>
              <a:spcBef>
                <a:spcPts val="400"/>
              </a:spcBef>
              <a:spcAft>
                <a:spcPts val="400"/>
              </a:spcAft>
              <a:defRPr sz="1000" b="0">
                <a:solidFill>
                  <a:srgbClr val="000000"/>
                </a:solidFill>
                <a:latin typeface="Verdana"/>
              </a:defRPr>
            </a:pPr>
            <a:r>
              <a:t>Figure 6.1    Accuracy Comparison: v1 vs Enhanced</a:t>
            </a:r>
          </a:p>
          <a:p>
            <a:pPr algn="just">
              <a:lnSpc>
                <a:spcPts val="1500"/>
              </a:lnSpc>
              <a:spcBef>
                <a:spcPts val="400"/>
              </a:spcBef>
              <a:spcAft>
                <a:spcPts val="400"/>
              </a:spcAft>
              <a:defRPr sz="1000" b="0">
                <a:solidFill>
                  <a:srgbClr val="000000"/>
                </a:solidFill>
                <a:latin typeface="Verdana"/>
              </a:defRPr>
            </a:pPr>
            <a:r>
              <a:t>Figure 6.2    Processing Time Analysis</a:t>
            </a:r>
          </a:p>
          <a:p>
            <a:pPr algn="just">
              <a:lnSpc>
                <a:spcPts val="1500"/>
              </a:lnSpc>
              <a:spcBef>
                <a:spcPts val="400"/>
              </a:spcBef>
              <a:spcAft>
                <a:spcPts val="400"/>
              </a:spcAft>
              <a:defRPr sz="1000" b="0">
                <a:solidFill>
                  <a:srgbClr val="000000"/>
                </a:solidFill>
                <a:latin typeface="Verdana"/>
              </a:defRPr>
            </a:pPr>
            <a:r>
              <a:t>Figure 6.3    Cost Analysis per 1,000 Scans</a:t>
            </a:r>
          </a:p>
          <a:p>
            <a:pPr algn="just">
              <a:lnSpc>
                <a:spcPts val="1500"/>
              </a:lnSpc>
              <a:spcBef>
                <a:spcPts val="400"/>
              </a:spcBef>
              <a:spcAft>
                <a:spcPts val="400"/>
              </a:spcAft>
              <a:defRPr sz="1000" b="0">
                <a:solidFill>
                  <a:srgbClr val="000000"/>
                </a:solidFill>
                <a:latin typeface="Verdana"/>
              </a:defRPr>
            </a:pPr>
            <a:r>
              <a:t>Figure 6.4    Multi-Signal Detection Contribution</a:t>
            </a:r>
          </a:p>
          <a:p>
            <a:pPr algn="just">
              <a:lnSpc>
                <a:spcPts val="1500"/>
              </a:lnSpc>
              <a:spcBef>
                <a:spcPts val="400"/>
              </a:spcBef>
              <a:spcAft>
                <a:spcPts val="400"/>
              </a:spcAft>
              <a:defRPr sz="1000" b="0">
                <a:solidFill>
                  <a:srgbClr val="000000"/>
                </a:solidFill>
                <a:latin typeface="Verdana"/>
              </a:defRPr>
            </a:pPr>
            <a:r>
              <a:t>Figure 6.5    Whitelist Performance Impact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LIST OF TABLES</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Table 2.1    Comparison of Phishing Detection Approaches</a:t>
            </a:r>
          </a:p>
          <a:p>
            <a:pPr algn="just">
              <a:lnSpc>
                <a:spcPts val="1500"/>
              </a:lnSpc>
              <a:spcBef>
                <a:spcPts val="400"/>
              </a:spcBef>
              <a:spcAft>
                <a:spcPts val="400"/>
              </a:spcAft>
              <a:defRPr sz="1000" b="0">
                <a:solidFill>
                  <a:srgbClr val="000000"/>
                </a:solidFill>
                <a:latin typeface="Verdana"/>
              </a:defRPr>
            </a:pPr>
            <a:r>
              <a:t>Table 3.1    Trusted Domain Whitelist Categories</a:t>
            </a:r>
          </a:p>
          <a:p>
            <a:pPr algn="just">
              <a:lnSpc>
                <a:spcPts val="1500"/>
              </a:lnSpc>
              <a:spcBef>
                <a:spcPts val="400"/>
              </a:spcBef>
              <a:spcAft>
                <a:spcPts val="400"/>
              </a:spcAft>
              <a:defRPr sz="1000" b="0">
                <a:solidFill>
                  <a:srgbClr val="000000"/>
                </a:solidFill>
                <a:latin typeface="Verdana"/>
              </a:defRPr>
            </a:pPr>
            <a:r>
              <a:t>Table 3.2    Suspicious TLD List</a:t>
            </a:r>
          </a:p>
          <a:p>
            <a:pPr algn="just">
              <a:lnSpc>
                <a:spcPts val="1500"/>
              </a:lnSpc>
              <a:spcBef>
                <a:spcPts val="400"/>
              </a:spcBef>
              <a:spcAft>
                <a:spcPts val="400"/>
              </a:spcAft>
              <a:defRPr sz="1000" b="0">
                <a:solidFill>
                  <a:srgbClr val="000000"/>
                </a:solidFill>
                <a:latin typeface="Verdana"/>
              </a:defRPr>
            </a:pPr>
            <a:r>
              <a:t>Table 3.3    Risk Score Adjustment Rules</a:t>
            </a:r>
          </a:p>
          <a:p>
            <a:pPr algn="just">
              <a:lnSpc>
                <a:spcPts val="1500"/>
              </a:lnSpc>
              <a:spcBef>
                <a:spcPts val="400"/>
              </a:spcBef>
              <a:spcAft>
                <a:spcPts val="400"/>
              </a:spcAft>
              <a:defRPr sz="1000" b="0">
                <a:solidFill>
                  <a:srgbClr val="000000"/>
                </a:solidFill>
                <a:latin typeface="Verdana"/>
              </a:defRPr>
            </a:pPr>
            <a:r>
              <a:t>Table 4.1    Lambda Function Specifications</a:t>
            </a:r>
          </a:p>
          <a:p>
            <a:pPr algn="just">
              <a:lnSpc>
                <a:spcPts val="1500"/>
              </a:lnSpc>
              <a:spcBef>
                <a:spcPts val="400"/>
              </a:spcBef>
              <a:spcAft>
                <a:spcPts val="400"/>
              </a:spcAft>
              <a:defRPr sz="1000" b="0">
                <a:solidFill>
                  <a:srgbClr val="000000"/>
                </a:solidFill>
                <a:latin typeface="Verdana"/>
              </a:defRPr>
            </a:pPr>
            <a:r>
              <a:t>Table 4.2    AWS Service Configuration Details</a:t>
            </a:r>
          </a:p>
          <a:p>
            <a:pPr algn="just">
              <a:lnSpc>
                <a:spcPts val="1500"/>
              </a:lnSpc>
              <a:spcBef>
                <a:spcPts val="400"/>
              </a:spcBef>
              <a:spcAft>
                <a:spcPts val="400"/>
              </a:spcAft>
              <a:defRPr sz="1000" b="0">
                <a:solidFill>
                  <a:srgbClr val="000000"/>
                </a:solidFill>
                <a:latin typeface="Verdana"/>
              </a:defRPr>
            </a:pPr>
            <a:r>
              <a:t>Table 5.1    Test Dataset Composition</a:t>
            </a:r>
          </a:p>
          <a:p>
            <a:pPr algn="just">
              <a:lnSpc>
                <a:spcPts val="1500"/>
              </a:lnSpc>
              <a:spcBef>
                <a:spcPts val="400"/>
              </a:spcBef>
              <a:spcAft>
                <a:spcPts val="400"/>
              </a:spcAft>
              <a:defRPr sz="1000" b="0">
                <a:solidFill>
                  <a:srgbClr val="000000"/>
                </a:solidFill>
                <a:latin typeface="Verdana"/>
              </a:defRPr>
            </a:pPr>
            <a:r>
              <a:t>Table 5.2    Test Categories and Distribution</a:t>
            </a:r>
          </a:p>
          <a:p>
            <a:pPr algn="just">
              <a:lnSpc>
                <a:spcPts val="1500"/>
              </a:lnSpc>
              <a:spcBef>
                <a:spcPts val="400"/>
              </a:spcBef>
              <a:spcAft>
                <a:spcPts val="400"/>
              </a:spcAft>
              <a:defRPr sz="1000" b="0">
                <a:solidFill>
                  <a:srgbClr val="000000"/>
                </a:solidFill>
                <a:latin typeface="Verdana"/>
              </a:defRPr>
            </a:pPr>
            <a:r>
              <a:t>Table 6.1    Performance Comparison (v1 vs Enhanced)</a:t>
            </a:r>
          </a:p>
          <a:p>
            <a:pPr algn="just">
              <a:lnSpc>
                <a:spcPts val="1500"/>
              </a:lnSpc>
              <a:spcBef>
                <a:spcPts val="400"/>
              </a:spcBef>
              <a:spcAft>
                <a:spcPts val="400"/>
              </a:spcAft>
              <a:defRPr sz="1000" b="0">
                <a:solidFill>
                  <a:srgbClr val="000000"/>
                </a:solidFill>
                <a:latin typeface="Verdana"/>
              </a:defRPr>
            </a:pPr>
            <a:r>
              <a:t>Table 6.2    Processing Time Analysis</a:t>
            </a:r>
          </a:p>
          <a:p>
            <a:pPr algn="just">
              <a:lnSpc>
                <a:spcPts val="1500"/>
              </a:lnSpc>
              <a:spcBef>
                <a:spcPts val="400"/>
              </a:spcBef>
              <a:spcAft>
                <a:spcPts val="400"/>
              </a:spcAft>
              <a:defRPr sz="1000" b="0">
                <a:solidFill>
                  <a:srgbClr val="000000"/>
                </a:solidFill>
                <a:latin typeface="Verdana"/>
              </a:defRPr>
            </a:pPr>
            <a:r>
              <a:t>Table 6.3    Cost Analysis per 1,000 Scans</a:t>
            </a:r>
          </a:p>
          <a:p>
            <a:pPr algn="just">
              <a:lnSpc>
                <a:spcPts val="1500"/>
              </a:lnSpc>
              <a:spcBef>
                <a:spcPts val="400"/>
              </a:spcBef>
              <a:spcAft>
                <a:spcPts val="400"/>
              </a:spcAft>
              <a:defRPr sz="1000" b="0">
                <a:solidFill>
                  <a:srgbClr val="000000"/>
                </a:solidFill>
                <a:latin typeface="Verdana"/>
              </a:defRPr>
            </a:pPr>
            <a:r>
              <a:t>Table 6.4    Detection Signal Contributions</a:t>
            </a:r>
          </a:p>
          <a:p>
            <a:pPr algn="just">
              <a:lnSpc>
                <a:spcPts val="1500"/>
              </a:lnSpc>
              <a:spcBef>
                <a:spcPts val="400"/>
              </a:spcBef>
              <a:spcAft>
                <a:spcPts val="400"/>
              </a:spcAft>
              <a:defRPr sz="1000" b="0">
                <a:solidFill>
                  <a:srgbClr val="000000"/>
                </a:solidFill>
                <a:latin typeface="Verdana"/>
              </a:defRPr>
            </a:pPr>
            <a:r>
              <a:t>Table 6.5    Whitelist Performance Metrics</a:t>
            </a:r>
          </a:p>
          <a:p>
            <a:pPr algn="just">
              <a:lnSpc>
                <a:spcPts val="1500"/>
              </a:lnSpc>
              <a:spcBef>
                <a:spcPts val="400"/>
              </a:spcBef>
              <a:spcAft>
                <a:spcPts val="400"/>
              </a:spcAft>
              <a:defRPr sz="1000" b="0">
                <a:solidFill>
                  <a:srgbClr val="000000"/>
                </a:solidFill>
                <a:latin typeface="Verdana"/>
              </a:defRPr>
            </a:pPr>
            <a:r>
              <a:t>Table 6.6    Comparison with State-of-the-Art Systems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6994"/>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058400" cy="914400"/>
          </a:xfrm>
          <a:prstGeom prst="rect">
            <a:avLst/>
          </a:prstGeom>
          <a:noFill/>
        </p:spPr>
        <p:txBody>
          <a:bodyPr wrap="square">
            <a:spAutoFit/>
          </a:bodyPr>
          <a:lstStyle/>
          <a:p>
            <a:pPr algn="ctr">
              <a:lnSpc>
                <a:spcPts val="2400"/>
              </a:lnSpc>
              <a:spcAft>
                <a:spcPts val="600"/>
              </a:spcAft>
              <a:defRPr sz="1600" b="1">
                <a:solidFill>
                  <a:srgbClr val="FFFFFF"/>
                </a:solidFill>
                <a:latin typeface="Verdana"/>
              </a:defRPr>
            </a:pPr>
            <a:r>
              <a:t>CHAPTER 1</a:t>
            </a:r>
          </a:p>
        </p:txBody>
      </p:sp>
      <p:sp>
        <p:nvSpPr>
          <p:cNvPr id="3" name="TextBox 2"/>
          <p:cNvSpPr txBox="1"/>
          <p:nvPr/>
        </p:nvSpPr>
        <p:spPr>
          <a:xfrm>
            <a:off x="914400" y="2926080"/>
            <a:ext cx="10058400" cy="1371600"/>
          </a:xfrm>
          <a:prstGeom prst="rect">
            <a:avLst/>
          </a:prstGeom>
          <a:noFill/>
        </p:spPr>
        <p:txBody>
          <a:bodyPr wrap="square">
            <a:spAutoFit/>
          </a:bodyPr>
          <a:lstStyle/>
          <a:p>
            <a:pPr algn="ctr">
              <a:lnSpc>
                <a:spcPts val="3600"/>
              </a:lnSpc>
              <a:spcAft>
                <a:spcPts val="600"/>
              </a:spcAft>
              <a:defRPr sz="2400" b="1">
                <a:solidFill>
                  <a:srgbClr val="FFFFFF"/>
                </a:solidFill>
                <a:latin typeface="Verdana"/>
              </a:defRPr>
            </a:pPr>
            <a:r>
              <a:t>INTRODUCTION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1.1 Introduction</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Phishing attacks remain one of the most prevalent and economically damaging cybersecurity threats facing individuals and organizations globally. The Anti-Phishing Working Group (APWG) reports that phishing attempts peaked in 2023, with over 5 million distinct phishing websites identified, representing a 150% increase from 2020. According to the FBI's Internet Crime Complaint Center (IC3), phishing-related damages totaled $52 billion in 2023.</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Modern phishing attacks have evolved significantly beyond simple email spoofing and crude website imitations. Contemporary attackers employ sophisticated techniques including visual brand impersonation using official logos and layouts, advanced social engineering through fake security warnings, multi-stage attack chains combining email, SMS, and social media, polymorphic content that dynamically changes appearance, domain manipulation through </a:t>
            </a:r>
            <a:r>
              <a:rPr dirty="0" err="1"/>
              <a:t>typosquatting</a:t>
            </a:r>
            <a:r>
              <a:rPr dirty="0"/>
              <a:t> and homograph attacks, and JavaScript obfuscation to hide malicious code.</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The democratization of attack tools and the emergence of Phishing-as-a-Service (</a:t>
            </a:r>
            <a:r>
              <a:rPr dirty="0" err="1"/>
              <a:t>PhaaS</a:t>
            </a:r>
            <a:r>
              <a:rPr dirty="0"/>
              <a:t>) platforms have lowered barriers to entry, enabling even non-technical criminals to launch sophisticated campaigns. More concerning is the recent trend of attackers leveraging Large Language Models (LLMs) to generate highly convincing multilingual phishing content.</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Traditional phishing detection methods, including rule-based heuristics and machine learning models, struggle to keep pace with these sophisticated attacks. These systems typically rely on extensive training with static datasets, resulting in high false-positive rates, increased computational overhead, and limited adaptability to novel threats.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1.2 Problem Statement</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Despite significant advances in phishing detection, existing systems face critical limitations that reduce their effectiveness against modern attacks:</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Single-Modal Analysis: Most systems analyze either text or images, missing the correlation between visual and textual deception. A phishing site may use a legitimate-looking design (visual) while containing suspicious text patterns, or vice versa.</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Lack of Domain Intelligence: Existing systems ignore domain characteristics such as age, TLD patterns, and registration anomalies that are strong indicators of phishing activity.</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No Visual Brand Verification: Current approaches are unable to detect mismatches between claimed brands and actual visual elements, missing sophisticated brand impersonation attacks.</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Static Whitelisting: Treating all URLs equally wastes computational resources on known-legitimate domains, increasing costs and latency without improving security.</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Dataset Dependency: Traditional ML approaches require large labeled datasets and periodic retraining, making them slow to adapt to new attack patterns and zero-day threats.</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There is a need for a multi-modal, cloud-native phishing detection system that combines textual analysis, computer vision, and domain intelligence in a unified, real-time pipeline.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1.3 Objectives</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The primary objectives of this project are:</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1. To design and implement a multi-modal phishing detection system that integrates Large Language Models (LLMs), computer vision, and domain intelligence for comprehensive threat analysis.</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2. To develop a cloud-native serverless architecture using AWS services (Lambda, API Gateway, Bedrock, Rekognition, S3, DynamoDB) that provides automatic scaling and cost-effective operation.</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3. To implement intelligent domain whitelisting that provides sub-100ms response times for trusted domains while maintaining comprehensive analysis for suspicious URLs.</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4. To integrate Amazon Rekognition for visual brand detection (logo detection and OCR) to identify brand impersonation attacks that text-only analysis would miss.</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5. To develop a multi-signal risk scoring algorithm that fuses outputs from LLM analysis, computer vision, and domain intelligence for improved accuracy.</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6. To achieve detection accuracy of 99.7% or higher while maintaining operational cost efficiency at approximately $0.011 per URL analysis.</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7. To evaluate the system against existing approaches and demonstrate improvements in accuracy, cost, and processing time.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1.4 Scope</a:t>
            </a:r>
          </a:p>
        </p:txBody>
      </p:sp>
      <p:sp>
        <p:nvSpPr>
          <p:cNvPr id="4" name="TextBox 3"/>
          <p:cNvSpPr txBox="1"/>
          <p:nvPr/>
        </p:nvSpPr>
        <p:spPr>
          <a:xfrm>
            <a:off x="387391" y="477848"/>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The scope of this project encompasses the following:</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System Design and Architecture: Design of a complete cloud-native phishing detection system using AWS serverless services, including API Gateway, Lambda functions, S3, DynamoDB, Amazon Bedrock, and Amazon Rekognition.</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Multi-Modal Analysis Pipeline: Implementation of a three-tier detection strategy combining intelligent domain whitelisting, computer vision analysis (logo detection and OCR), and LLM-based contextual analysis with domain intelligence.</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Web Application: Development of a Next.js-based user interface for URL submission, real-time result polling, and scan history viewing.</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Evaluation: Comprehensive testing with a dataset of 1,200 URLs across multiple categories including brand impersonation, financial phishing, social engineering, and credential harvesting.</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The project focuses on website-based phishing detection and does not cover email phishing, SMS phishing (smishing), or voice phishing (vishing) in the current implementation.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1.5 Applications</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err="1"/>
              <a:t>SafeClick</a:t>
            </a:r>
            <a:r>
              <a:rPr dirty="0"/>
              <a:t> Enhanced has broad applications across multiple domains:</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Browser Extensions: Real-time URL scanning integrated into web browsers to warn users before they visit potentially dangerous websites.</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Enterprise Security: Integration with corporate security infrastructure to protect employees from phishing attacks targeting business credentials and sensitive data.</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Email Security Gateways: Scanning URLs embedded in emails before delivery to detect phishing links in real-time.</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Financial Institutions: Protecting banking customers from credential harvesting attacks that impersonate financial services.</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E-commerce Platforms: Verifying the legitimacy of third-party seller websites and protecting consumers from fraudulent online stores.</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Government and Public Sector: Protecting citizens from government impersonation scams and securing public-facing digital services.</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Educational Institutions: Training and awareness tools for cybersecurity education, demonstrating real-time phishing detection capabilities.</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API Service: Providing phishing detection as a service (</a:t>
            </a:r>
            <a:r>
              <a:rPr dirty="0" err="1"/>
              <a:t>DetaaS</a:t>
            </a:r>
            <a:r>
              <a:rPr dirty="0"/>
              <a:t>) for third-party applications and security platforms.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1.6 Limitations</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The current implementation has the following limitations:</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Domain Intelligence Scope: The system uses heuristic analysis rather than WHOIS data for domain assessment. It cannot determine actual domain age or registration date, relying instead on pattern-based suspicious indicators.</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Computer Vision Constraints: Amazon Rekognition may miss custom or stylized logos that differ from standard brand imagery. OCR accuracy depends on image quality and text rendering in screenshots.</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Whitelist Maintenance: The trusted domain whitelist requires manual curation and updates. It may miss newly legitimate services and carries a risk of including compromised domains.</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Cost at Scale: While cost-effective for moderate volumes, Rekognition adds approximately $0.001 per scan, which may be significant for very high-volume scenarios involving millions of daily scans.</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JavaScript-Heavy Sites: Some modern single-page applications with heavy JavaScript rendering may not be fully captured by the headless browser within the timeout period.</a:t>
            </a:r>
          </a:p>
          <a:p>
            <a:pPr algn="just">
              <a:lnSpc>
                <a:spcPts val="1500"/>
              </a:lnSpc>
              <a:spcBef>
                <a:spcPts val="400"/>
              </a:spcBef>
              <a:spcAft>
                <a:spcPts val="400"/>
              </a:spcAft>
              <a:defRPr sz="1000" b="0">
                <a:solidFill>
                  <a:srgbClr val="000000"/>
                </a:solidFill>
                <a:latin typeface="Verdana"/>
              </a:defRPr>
            </a:pPr>
            <a:endParaRPr dirty="0"/>
          </a:p>
          <a:p>
            <a:pPr algn="just">
              <a:lnSpc>
                <a:spcPts val="1500"/>
              </a:lnSpc>
              <a:spcBef>
                <a:spcPts val="400"/>
              </a:spcBef>
              <a:spcAft>
                <a:spcPts val="400"/>
              </a:spcAft>
              <a:defRPr sz="1000" b="0">
                <a:solidFill>
                  <a:srgbClr val="000000"/>
                </a:solidFill>
                <a:latin typeface="Verdana"/>
              </a:defRPr>
            </a:pPr>
            <a:r>
              <a:rPr dirty="0"/>
              <a:t>Language Coverage: While the LLM supports multilingual analysis, the domain intelligence and urgency keyword detection are primarily optimized for English-language content.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6994"/>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058400" cy="914400"/>
          </a:xfrm>
          <a:prstGeom prst="rect">
            <a:avLst/>
          </a:prstGeom>
          <a:noFill/>
        </p:spPr>
        <p:txBody>
          <a:bodyPr wrap="square">
            <a:spAutoFit/>
          </a:bodyPr>
          <a:lstStyle/>
          <a:p>
            <a:pPr algn="ctr">
              <a:lnSpc>
                <a:spcPts val="2400"/>
              </a:lnSpc>
              <a:spcAft>
                <a:spcPts val="600"/>
              </a:spcAft>
              <a:defRPr sz="1600" b="1">
                <a:solidFill>
                  <a:srgbClr val="FFFFFF"/>
                </a:solidFill>
                <a:latin typeface="Verdana"/>
              </a:defRPr>
            </a:pPr>
            <a:r>
              <a:t>CHAPTER 2</a:t>
            </a:r>
          </a:p>
        </p:txBody>
      </p:sp>
      <p:sp>
        <p:nvSpPr>
          <p:cNvPr id="3" name="TextBox 2"/>
          <p:cNvSpPr txBox="1"/>
          <p:nvPr/>
        </p:nvSpPr>
        <p:spPr>
          <a:xfrm>
            <a:off x="914400" y="2926080"/>
            <a:ext cx="10058400" cy="1371600"/>
          </a:xfrm>
          <a:prstGeom prst="rect">
            <a:avLst/>
          </a:prstGeom>
          <a:noFill/>
        </p:spPr>
        <p:txBody>
          <a:bodyPr wrap="square">
            <a:spAutoFit/>
          </a:bodyPr>
          <a:lstStyle/>
          <a:p>
            <a:pPr algn="ctr">
              <a:lnSpc>
                <a:spcPts val="3600"/>
              </a:lnSpc>
              <a:spcAft>
                <a:spcPts val="600"/>
              </a:spcAft>
              <a:defRPr sz="2400" b="1">
                <a:solidFill>
                  <a:srgbClr val="FFFFFF"/>
                </a:solidFill>
                <a:latin typeface="Verdana"/>
              </a:defRPr>
            </a:pPr>
            <a:r>
              <a:t>LITERATURE SURVEY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2.1 Machine Learning Approaches</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Phishing detection has evolved significantly over the years in response to increasing sophistication of phishing attacks. Early research primarily focused on rule-based and heuristic-driven techniques that relied on predefined patterns such as URL structures, blacklists, whitelists, and manually engineered rules. While simple to implement, these approaches struggled with dynamic phishing strategies and zero-day attacks.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With the advancement of machine learning, researchers adopted data-driven approaches. Xu et al. (2022) demonstrated a Naive Bayes-based phishing website detection approach leveraging statistical properties of website features. Opara et al. (2024) exploited raw URL and HTML characteristics to identify phishing webpages. Maturure et al. (2024) proposed a hybrid machine learning model combining multiple classifiers to enhance robustness.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Comprehensive surveys by Alkawaz et al. (2021) and Zieni et al. (2023) systematically analyzed phishing detection methodologies, categorizing methods based on feature types and learning models. Wilk-Jakubowski et al. (2025) examined neural networks and modern ML techniques, identifying issues related to concept drift and dataset imbalance.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2.2 LLM-Based and Multi-Modal Detection Systems</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The emergence of Large Language Models has introduced a paradigm shift in phishing detection. Unlike traditional ML models, LLM-based approaches leverage contextual understanding, reasoning, and semantic analysis of entire webpages without requiring extensive training.</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Koide et al. (2024) proposed ChatPhishDetector, an LLM-based system that analyzes webpage content using GPT models, achieving 98.9% accuracy. Ji and Kim (2025) evaluated LLM effectiveness for phishing detection, highlighting adaptability to unseen attacks.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Lee (2024) proposed a multimodal LLM approach integrating textual and visual webpage information. Bhargude et al. (2025) enhanced detection through adaptive linguistic prompting. Mahendru and Pandit (2024) compared DeBERTa with LLMs, concluding LLMs offer superior contextual reasoning but require careful deployment for cost management.</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Despite these advances, critical gaps remain: lack of multi-modal integration combining textual, visual, and domain analysis; absence of real-time computer vision using commercial APIs; no domain intelligence incorporation; limited resource optimization; and few production-ready cloud-native implementations. SafeClick Enhanced addresses all these gaps.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6994"/>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058400" cy="914400"/>
          </a:xfrm>
          <a:prstGeom prst="rect">
            <a:avLst/>
          </a:prstGeom>
          <a:noFill/>
        </p:spPr>
        <p:txBody>
          <a:bodyPr wrap="square">
            <a:spAutoFit/>
          </a:bodyPr>
          <a:lstStyle/>
          <a:p>
            <a:pPr algn="ctr">
              <a:lnSpc>
                <a:spcPts val="2400"/>
              </a:lnSpc>
              <a:spcAft>
                <a:spcPts val="600"/>
              </a:spcAft>
              <a:defRPr sz="1600" b="1">
                <a:solidFill>
                  <a:srgbClr val="FFFFFF"/>
                </a:solidFill>
                <a:latin typeface="Verdana"/>
              </a:defRPr>
            </a:pPr>
            <a:r>
              <a:t>CHAPTER 3</a:t>
            </a:r>
          </a:p>
        </p:txBody>
      </p:sp>
      <p:sp>
        <p:nvSpPr>
          <p:cNvPr id="3" name="TextBox 2"/>
          <p:cNvSpPr txBox="1"/>
          <p:nvPr/>
        </p:nvSpPr>
        <p:spPr>
          <a:xfrm>
            <a:off x="914400" y="2926080"/>
            <a:ext cx="10058400" cy="1371600"/>
          </a:xfrm>
          <a:prstGeom prst="rect">
            <a:avLst/>
          </a:prstGeom>
          <a:noFill/>
        </p:spPr>
        <p:txBody>
          <a:bodyPr wrap="square">
            <a:spAutoFit/>
          </a:bodyPr>
          <a:lstStyle/>
          <a:p>
            <a:pPr algn="ctr">
              <a:lnSpc>
                <a:spcPts val="3600"/>
              </a:lnSpc>
              <a:spcAft>
                <a:spcPts val="600"/>
              </a:spcAft>
              <a:defRPr sz="2400" b="1">
                <a:solidFill>
                  <a:srgbClr val="FFFFFF"/>
                </a:solidFill>
                <a:latin typeface="Verdana"/>
              </a:defRPr>
            </a:pPr>
            <a:r>
              <a:t>ANALYSIS AND DESIGN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3.1 System Architecture Overview</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SafeClick Enhanced implements a multi-modal, cloud-native architecture built entirely on AWS serverless services. The system follows a sequential pipeline architecture where each component performs a specific task in the phishing detection process.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The architecture consists of five layers: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1. Client Layer: Next.js web application providing URL submission interface and real-time result display with scan history functionality.</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2. API Layer: Amazon API Gateway providing secure HTTPS endpoints with request validation, rate limiting (100 req/s), and CORS configuration.</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3. Compute Layer: Four specialized AWS Lambda functions - API Handler (Node.js), Web Crawler (Puppeteer), Enhanced Analyzer (Python), and Results Handler (Python).</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4. AI/ML Layer: Amazon Bedrock (Nova Premier) for LLM-based contextual analysis and Amazon Rekognition for computer vision (logo detection and OCR).</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5. Storage Layer: Amazon S3 for artifact storage (screenshots, HTML) with 7-day TTL, and Amazon DynamoDB for results persistence with GSI for scanId-based polling.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3.2 Multi-Modal Detection Pipeline</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The system implements a three-tier detection strategy:</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Tier 1 - Intelligent Domain Whitelisting: The system maintains a curated whitelist of 50+ trusted domains including major tech companies, financial institutions, government sites, and verified services. Whitelisted domains receive immediate legitimate verdicts with sub-100ms response time, bypassing expensive AI analysis.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Tier 2 - Computer Vision Analysis: For non-whitelisted domains, Amazon Rekognition performs logo detection (70% confidence threshold), optical character recognition for hidden text, and visual element analysis for social engineering indicators.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Tier 3 - LLM Analysis with Domain Intelligence: Amazon Bedrock Nova Premier analyzes sanitized HTML content, extracted forms and links, urgency keywords, brand mentions, Rekognition results, and domain intelligence findings through a structured prompt.</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Domain intelligence performs heuristic analysis including suspicious TLD detection (.tk, .ml, .ga, .cf, .xyz, .top), pattern analysis for excessive hyphens and embedded numbers, and risk scoring based on multiple indicators.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3.3 Enhanced Risk Scoring Algorithm</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The system implements a multi-signal fusion algorithm combining outputs from all three detection modalities: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Base Risk Score (0-100): Provided by the LLM based on contextual analysis of webpage content, forms, links, and social engineering indicators.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Visual Brand Mismatch Detection: When the LLM detects a claimed brand, the system cross-references with Rekognition's detected logos. Mismatch increases risk by +10 points.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Domain Characteristic Adjustment: Each suspicious indicator adds +5 points - suspicious TLD (+5), excessive hyphens (+5), embedded numbers (+5), long domain (+5). Maximum domain adjustment: +20 points.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Verdict Determination: Risk &gt;= 70: Phishing; Risk &gt;= 40: Suspicious (if previously Legitimate); Risk &lt; 40: Maintains original verdict.</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Confidence Calibration: High confidence when all signals agree; Medium when majority agree; Low when signals conflict or data is insufficient.</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This multi-signal approach achieves 17.5% more detections than LLM alone and reduces false positives by 50%.</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3.4 Security Design</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The system implements multiple security measures: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HTML Sanitization: Before LLM analysis, HTML content is sanitized by removing script, style, iframe, and noscript tags; stripping event handlers (onclick, onload); removing javascript: URLs; and limiting content to 10,000 characters.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Prompt Injection Prevention: Clear separation of system instructions and user content using XML-style tags. Sanitized HTML prevents code injection. Fixed response format reduces manipulation possibilities.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Access Control: IAM roles with least-privilege permissions. Lambda execution roles scoped to specific resources. S3 bucket policies enforce HTTPS-only access. DynamoDB encryption at rest and in transit.</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Rate Limiting: API Gateway enforces 100 requests/second per IP with burst limit of 200 requests. CloudWatch alarms monitor for anomalous traffic patterns.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Data Protection: Server-side encryption (AES-256) for S3 artifacts. DynamoDB encryption enabled. Automatic data expiration via TTL (S3: 7 days, DynamoDB: 30 days).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6994"/>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058400" cy="914400"/>
          </a:xfrm>
          <a:prstGeom prst="rect">
            <a:avLst/>
          </a:prstGeom>
          <a:noFill/>
        </p:spPr>
        <p:txBody>
          <a:bodyPr wrap="square">
            <a:spAutoFit/>
          </a:bodyPr>
          <a:lstStyle/>
          <a:p>
            <a:pPr algn="ctr">
              <a:lnSpc>
                <a:spcPts val="2400"/>
              </a:lnSpc>
              <a:spcAft>
                <a:spcPts val="600"/>
              </a:spcAft>
              <a:defRPr sz="1600" b="1">
                <a:solidFill>
                  <a:srgbClr val="FFFFFF"/>
                </a:solidFill>
                <a:latin typeface="Verdana"/>
              </a:defRPr>
            </a:pPr>
            <a:r>
              <a:t>CHAPTER 4</a:t>
            </a:r>
          </a:p>
        </p:txBody>
      </p:sp>
      <p:sp>
        <p:nvSpPr>
          <p:cNvPr id="3" name="TextBox 2"/>
          <p:cNvSpPr txBox="1"/>
          <p:nvPr/>
        </p:nvSpPr>
        <p:spPr>
          <a:xfrm>
            <a:off x="914400" y="2926080"/>
            <a:ext cx="10058400" cy="1371600"/>
          </a:xfrm>
          <a:prstGeom prst="rect">
            <a:avLst/>
          </a:prstGeom>
          <a:noFill/>
        </p:spPr>
        <p:txBody>
          <a:bodyPr wrap="square">
            <a:spAutoFit/>
          </a:bodyPr>
          <a:lstStyle/>
          <a:p>
            <a:pPr algn="ctr">
              <a:lnSpc>
                <a:spcPts val="3600"/>
              </a:lnSpc>
              <a:spcAft>
                <a:spcPts val="600"/>
              </a:spcAft>
              <a:defRPr sz="2400" b="1">
                <a:solidFill>
                  <a:srgbClr val="FFFFFF"/>
                </a:solidFill>
                <a:latin typeface="Verdana"/>
              </a:defRPr>
            </a:pPr>
            <a:r>
              <a:t>IMPLEMENTATION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4.1 Technology Stack</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The system is implemented using the following technologies: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Backend (AWS Serverless):</a:t>
            </a:r>
          </a:p>
          <a:p>
            <a:pPr algn="just">
              <a:lnSpc>
                <a:spcPts val="1500"/>
              </a:lnSpc>
              <a:spcBef>
                <a:spcPts val="400"/>
              </a:spcBef>
              <a:spcAft>
                <a:spcPts val="400"/>
              </a:spcAft>
              <a:defRPr sz="1000" b="0">
                <a:solidFill>
                  <a:srgbClr val="000000"/>
                </a:solidFill>
                <a:latin typeface="Verdana"/>
              </a:defRPr>
            </a:pPr>
            <a:r>
              <a:t>  - AWS Lambda: Serverless compute (Node.js 20.x and Python 3.10)</a:t>
            </a:r>
          </a:p>
          <a:p>
            <a:pPr algn="just">
              <a:lnSpc>
                <a:spcPts val="1500"/>
              </a:lnSpc>
              <a:spcBef>
                <a:spcPts val="400"/>
              </a:spcBef>
              <a:spcAft>
                <a:spcPts val="400"/>
              </a:spcAft>
              <a:defRPr sz="1000" b="0">
                <a:solidFill>
                  <a:srgbClr val="000000"/>
                </a:solidFill>
                <a:latin typeface="Verdana"/>
              </a:defRPr>
            </a:pPr>
            <a:r>
              <a:t>  - Amazon API Gateway: REST API with HTTPS endpoints</a:t>
            </a:r>
          </a:p>
          <a:p>
            <a:pPr algn="just">
              <a:lnSpc>
                <a:spcPts val="1500"/>
              </a:lnSpc>
              <a:spcBef>
                <a:spcPts val="400"/>
              </a:spcBef>
              <a:spcAft>
                <a:spcPts val="400"/>
              </a:spcAft>
              <a:defRPr sz="1000" b="0">
                <a:solidFill>
                  <a:srgbClr val="000000"/>
                </a:solidFill>
                <a:latin typeface="Verdana"/>
              </a:defRPr>
            </a:pPr>
            <a:r>
              <a:t>  - Amazon S3: Artifact storage with lifecycle policies</a:t>
            </a:r>
          </a:p>
          <a:p>
            <a:pPr algn="just">
              <a:lnSpc>
                <a:spcPts val="1500"/>
              </a:lnSpc>
              <a:spcBef>
                <a:spcPts val="400"/>
              </a:spcBef>
              <a:spcAft>
                <a:spcPts val="400"/>
              </a:spcAft>
              <a:defRPr sz="1000" b="0">
                <a:solidFill>
                  <a:srgbClr val="000000"/>
                </a:solidFill>
                <a:latin typeface="Verdana"/>
              </a:defRPr>
            </a:pPr>
            <a:r>
              <a:t>  - Amazon DynamoDB: NoSQL database with GSI for scanId queries</a:t>
            </a:r>
          </a:p>
          <a:p>
            <a:pPr algn="just">
              <a:lnSpc>
                <a:spcPts val="1500"/>
              </a:lnSpc>
              <a:spcBef>
                <a:spcPts val="400"/>
              </a:spcBef>
              <a:spcAft>
                <a:spcPts val="400"/>
              </a:spcAft>
              <a:defRPr sz="1000" b="0">
                <a:solidFill>
                  <a:srgbClr val="000000"/>
                </a:solidFill>
                <a:latin typeface="Verdana"/>
              </a:defRPr>
            </a:pPr>
            <a:r>
              <a:t>  - Amazon Bedrock: Nova Premier LLM (us.amazon.nova-premier-v1:0)</a:t>
            </a:r>
          </a:p>
          <a:p>
            <a:pPr algn="just">
              <a:lnSpc>
                <a:spcPts val="1500"/>
              </a:lnSpc>
              <a:spcBef>
                <a:spcPts val="400"/>
              </a:spcBef>
              <a:spcAft>
                <a:spcPts val="400"/>
              </a:spcAft>
              <a:defRPr sz="1000" b="0">
                <a:solidFill>
                  <a:srgbClr val="000000"/>
                </a:solidFill>
                <a:latin typeface="Verdana"/>
              </a:defRPr>
            </a:pPr>
            <a:r>
              <a:t>  - Amazon Rekognition: Logo detection and OCR</a:t>
            </a:r>
          </a:p>
          <a:p>
            <a:pPr algn="just">
              <a:lnSpc>
                <a:spcPts val="1500"/>
              </a:lnSpc>
              <a:spcBef>
                <a:spcPts val="400"/>
              </a:spcBef>
              <a:spcAft>
                <a:spcPts val="400"/>
              </a:spcAft>
              <a:defRPr sz="1000" b="0">
                <a:solidFill>
                  <a:srgbClr val="000000"/>
                </a:solidFill>
                <a:latin typeface="Verdana"/>
              </a:defRPr>
            </a:pPr>
            <a:r>
              <a:t>  - AWS SAM: Infrastructure as Code deployment</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Frontend (Next.js):</a:t>
            </a:r>
          </a:p>
          <a:p>
            <a:pPr algn="just">
              <a:lnSpc>
                <a:spcPts val="1500"/>
              </a:lnSpc>
              <a:spcBef>
                <a:spcPts val="400"/>
              </a:spcBef>
              <a:spcAft>
                <a:spcPts val="400"/>
              </a:spcAft>
              <a:defRPr sz="1000" b="0">
                <a:solidFill>
                  <a:srgbClr val="000000"/>
                </a:solidFill>
                <a:latin typeface="Verdana"/>
              </a:defRPr>
            </a:pPr>
            <a:r>
              <a:t>  - Next.js 14 with React and TypeScript</a:t>
            </a:r>
          </a:p>
          <a:p>
            <a:pPr algn="just">
              <a:lnSpc>
                <a:spcPts val="1500"/>
              </a:lnSpc>
              <a:spcBef>
                <a:spcPts val="400"/>
              </a:spcBef>
              <a:spcAft>
                <a:spcPts val="400"/>
              </a:spcAft>
              <a:defRPr sz="1000" b="0">
                <a:solidFill>
                  <a:srgbClr val="000000"/>
                </a:solidFill>
                <a:latin typeface="Verdana"/>
              </a:defRPr>
            </a:pPr>
            <a:r>
              <a:t>  - Tailwind CSS for responsive UI design</a:t>
            </a:r>
          </a:p>
          <a:p>
            <a:pPr algn="just">
              <a:lnSpc>
                <a:spcPts val="1500"/>
              </a:lnSpc>
              <a:spcBef>
                <a:spcPts val="400"/>
              </a:spcBef>
              <a:spcAft>
                <a:spcPts val="400"/>
              </a:spcAft>
              <a:defRPr sz="1000" b="0">
                <a:solidFill>
                  <a:srgbClr val="000000"/>
                </a:solidFill>
                <a:latin typeface="Verdana"/>
              </a:defRPr>
            </a:pPr>
            <a:r>
              <a:t>  - Real-time polling for scan results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Development Tools:</a:t>
            </a:r>
          </a:p>
          <a:p>
            <a:pPr algn="just">
              <a:lnSpc>
                <a:spcPts val="1500"/>
              </a:lnSpc>
              <a:spcBef>
                <a:spcPts val="400"/>
              </a:spcBef>
              <a:spcAft>
                <a:spcPts val="400"/>
              </a:spcAft>
              <a:defRPr sz="1000" b="0">
                <a:solidFill>
                  <a:srgbClr val="000000"/>
                </a:solidFill>
                <a:latin typeface="Verdana"/>
              </a:defRPr>
            </a:pPr>
            <a:r>
              <a:t>  - AWS SAM CLI for local testing and deployment</a:t>
            </a:r>
          </a:p>
          <a:p>
            <a:pPr algn="just">
              <a:lnSpc>
                <a:spcPts val="1500"/>
              </a:lnSpc>
              <a:spcBef>
                <a:spcPts val="400"/>
              </a:spcBef>
              <a:spcAft>
                <a:spcPts val="400"/>
              </a:spcAft>
              <a:defRPr sz="1000" b="0">
                <a:solidFill>
                  <a:srgbClr val="000000"/>
                </a:solidFill>
                <a:latin typeface="Verdana"/>
              </a:defRPr>
            </a:pPr>
            <a:r>
              <a:t>  - Puppeteer (headless Chrome) for web crawling</a:t>
            </a:r>
          </a:p>
          <a:p>
            <a:pPr algn="just">
              <a:lnSpc>
                <a:spcPts val="1500"/>
              </a:lnSpc>
              <a:spcBef>
                <a:spcPts val="400"/>
              </a:spcBef>
              <a:spcAft>
                <a:spcPts val="400"/>
              </a:spcAft>
              <a:defRPr sz="1000" b="0">
                <a:solidFill>
                  <a:srgbClr val="000000"/>
                </a:solidFill>
                <a:latin typeface="Verdana"/>
              </a:defRPr>
            </a:pPr>
            <a:r>
              <a:t>  - BeautifulSoup4 for HTML parsing and sanitization</a:t>
            </a:r>
          </a:p>
          <a:p>
            <a:pPr algn="just">
              <a:lnSpc>
                <a:spcPts val="1500"/>
              </a:lnSpc>
              <a:spcBef>
                <a:spcPts val="400"/>
              </a:spcBef>
              <a:spcAft>
                <a:spcPts val="400"/>
              </a:spcAft>
              <a:defRPr sz="1000" b="0">
                <a:solidFill>
                  <a:srgbClr val="000000"/>
                </a:solidFill>
                <a:latin typeface="Verdana"/>
              </a:defRPr>
            </a:pPr>
            <a:r>
              <a:t>  - Boto3 for AWS service integration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4.2 Lambda Function Implementation</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API Handler Function (Node.js 20.x, 256 MB, 30s timeout):</a:t>
            </a:r>
          </a:p>
          <a:p>
            <a:pPr algn="just">
              <a:lnSpc>
                <a:spcPts val="1500"/>
              </a:lnSpc>
              <a:spcBef>
                <a:spcPts val="400"/>
              </a:spcBef>
              <a:spcAft>
                <a:spcPts val="400"/>
              </a:spcAft>
              <a:defRPr sz="1000" b="0">
                <a:solidFill>
                  <a:srgbClr val="000000"/>
                </a:solidFill>
                <a:latin typeface="Verdana"/>
              </a:defRPr>
            </a:pPr>
            <a:r>
              <a:t>Validates incoming URL submissions, generates unique scan IDs (UUID v4), initiates asynchronous processing pipeline, and returns immediate acknowledgment to clients.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Web Crawler Function (Node.js 20.x, 2048 MB, 60s timeout):</a:t>
            </a:r>
          </a:p>
          <a:p>
            <a:pPr algn="just">
              <a:lnSpc>
                <a:spcPts val="1500"/>
              </a:lnSpc>
              <a:spcBef>
                <a:spcPts val="400"/>
              </a:spcBef>
              <a:spcAft>
                <a:spcPts val="400"/>
              </a:spcAft>
              <a:defRPr sz="1000" b="0">
                <a:solidFill>
                  <a:srgbClr val="000000"/>
                </a:solidFill>
                <a:latin typeface="Verdana"/>
              </a:defRPr>
            </a:pPr>
            <a:r>
              <a:t>Fetches website content using headless Chrome (Puppeteer), captures full-page screenshots (PNG format), extracts HTML source code, collects metadata (title, domain, headers), and stores all artifacts in S3 organized by scan ID.</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Analyzer Function - Enhanced (Python 3.10, 1024 MB, 120s timeout):</a:t>
            </a:r>
          </a:p>
          <a:p>
            <a:pPr algn="just">
              <a:lnSpc>
                <a:spcPts val="1500"/>
              </a:lnSpc>
              <a:spcBef>
                <a:spcPts val="400"/>
              </a:spcBef>
              <a:spcAft>
                <a:spcPts val="400"/>
              </a:spcAft>
              <a:defRPr sz="1000" b="0">
                <a:solidFill>
                  <a:srgbClr val="000000"/>
                </a:solidFill>
                <a:latin typeface="Verdana"/>
              </a:defRPr>
            </a:pPr>
            <a:r>
              <a:t>Core analysis engine that retrieves artifacts from S3, checks domain whitelist, invokes Amazon Rekognition for logo detection and OCR, performs domain intelligence analysis, sanitizes HTML, constructs enhanced prompts, invokes Bedrock Nova Premier, fuses multi-signal risk scores, and generates final verdict.</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Results Handler Function (Python 3.10, 512 MB, 30s timeout):</a:t>
            </a:r>
          </a:p>
          <a:p>
            <a:pPr algn="just">
              <a:lnSpc>
                <a:spcPts val="1500"/>
              </a:lnSpc>
              <a:spcBef>
                <a:spcPts val="400"/>
              </a:spcBef>
              <a:spcAft>
                <a:spcPts val="400"/>
              </a:spcAft>
              <a:defRPr sz="1000" b="0">
                <a:solidFill>
                  <a:srgbClr val="000000"/>
                </a:solidFill>
                <a:latin typeface="Verdana"/>
              </a:defRPr>
            </a:pPr>
            <a:r>
              <a:t>Stores analysis results in DynamoDB, supports query by scanId (real-time polling) and by URL (history), implements TTL for automatic data expiration (30 days).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4.3 AI Services Integration</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Amazon Bedrock (Nova Premier) Configuration:</a:t>
            </a:r>
          </a:p>
          <a:p>
            <a:pPr algn="just">
              <a:lnSpc>
                <a:spcPts val="1500"/>
              </a:lnSpc>
              <a:spcBef>
                <a:spcPts val="400"/>
              </a:spcBef>
              <a:spcAft>
                <a:spcPts val="400"/>
              </a:spcAft>
              <a:defRPr sz="1000" b="0">
                <a:solidFill>
                  <a:srgbClr val="000000"/>
                </a:solidFill>
                <a:latin typeface="Verdana"/>
              </a:defRPr>
            </a:pPr>
            <a:r>
              <a:t>  - Model ID: us.amazon.nova-premier-v1:0</a:t>
            </a:r>
          </a:p>
          <a:p>
            <a:pPr algn="just">
              <a:lnSpc>
                <a:spcPts val="1500"/>
              </a:lnSpc>
              <a:spcBef>
                <a:spcPts val="400"/>
              </a:spcBef>
              <a:spcAft>
                <a:spcPts val="400"/>
              </a:spcAft>
              <a:defRPr sz="1000" b="0">
                <a:solidFill>
                  <a:srgbClr val="000000"/>
                </a:solidFill>
                <a:latin typeface="Verdana"/>
              </a:defRPr>
            </a:pPr>
            <a:r>
              <a:t>  - Cross-region inference profile for high availability</a:t>
            </a:r>
          </a:p>
          <a:p>
            <a:pPr algn="just">
              <a:lnSpc>
                <a:spcPts val="1500"/>
              </a:lnSpc>
              <a:spcBef>
                <a:spcPts val="400"/>
              </a:spcBef>
              <a:spcAft>
                <a:spcPts val="400"/>
              </a:spcAft>
              <a:defRPr sz="1000" b="0">
                <a:solidFill>
                  <a:srgbClr val="000000"/>
                </a:solidFill>
                <a:latin typeface="Verdana"/>
              </a:defRPr>
            </a:pPr>
            <a:r>
              <a:t>  - Max tokens: 2048, Temperature: 0.0 (deterministic outputs), Top-p: 0.9</a:t>
            </a:r>
          </a:p>
          <a:p>
            <a:pPr algn="just">
              <a:lnSpc>
                <a:spcPts val="1500"/>
              </a:lnSpc>
              <a:spcBef>
                <a:spcPts val="400"/>
              </a:spcBef>
              <a:spcAft>
                <a:spcPts val="400"/>
              </a:spcAft>
              <a:defRPr sz="1000" b="0">
                <a:solidFill>
                  <a:srgbClr val="000000"/>
                </a:solidFill>
                <a:latin typeface="Verdana"/>
              </a:defRPr>
            </a:pPr>
            <a:r>
              <a:t>  - Multimodal input: Screenshot image + structured text prompt</a:t>
            </a:r>
          </a:p>
          <a:p>
            <a:pPr algn="just">
              <a:lnSpc>
                <a:spcPts val="1500"/>
              </a:lnSpc>
              <a:spcBef>
                <a:spcPts val="400"/>
              </a:spcBef>
              <a:spcAft>
                <a:spcPts val="400"/>
              </a:spcAft>
              <a:defRPr sz="1000" b="0">
                <a:solidFill>
                  <a:srgbClr val="000000"/>
                </a:solidFill>
                <a:latin typeface="Verdana"/>
              </a:defRPr>
            </a:pPr>
            <a:r>
              <a:t>  - Output: Structured JSON with verdict, risk score, confidence, tactics, explanation</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Amazon Rekognition Integration:</a:t>
            </a:r>
          </a:p>
          <a:p>
            <a:pPr algn="just">
              <a:lnSpc>
                <a:spcPts val="1500"/>
              </a:lnSpc>
              <a:spcBef>
                <a:spcPts val="400"/>
              </a:spcBef>
              <a:spcAft>
                <a:spcPts val="400"/>
              </a:spcAft>
              <a:defRPr sz="1000" b="0">
                <a:solidFill>
                  <a:srgbClr val="000000"/>
                </a:solidFill>
                <a:latin typeface="Verdana"/>
              </a:defRPr>
            </a:pPr>
            <a:r>
              <a:t>  - DetectLabels API: Logo and brand detection with MaxLabels=20, MinConfidence=70%</a:t>
            </a:r>
          </a:p>
          <a:p>
            <a:pPr algn="just">
              <a:lnSpc>
                <a:spcPts val="1500"/>
              </a:lnSpc>
              <a:spcBef>
                <a:spcPts val="400"/>
              </a:spcBef>
              <a:spcAft>
                <a:spcPts val="400"/>
              </a:spcAft>
              <a:defRPr sz="1000" b="0">
                <a:solidFill>
                  <a:srgbClr val="000000"/>
                </a:solidFill>
                <a:latin typeface="Verdana"/>
              </a:defRPr>
            </a:pPr>
            <a:r>
              <a:t>    Focus on Logo, Brand, Symbol, Trademark labels</a:t>
            </a:r>
          </a:p>
          <a:p>
            <a:pPr algn="just">
              <a:lnSpc>
                <a:spcPts val="1500"/>
              </a:lnSpc>
              <a:spcBef>
                <a:spcPts val="400"/>
              </a:spcBef>
              <a:spcAft>
                <a:spcPts val="400"/>
              </a:spcAft>
              <a:defRPr sz="1000" b="0">
                <a:solidFill>
                  <a:srgbClr val="000000"/>
                </a:solidFill>
                <a:latin typeface="Verdana"/>
              </a:defRPr>
            </a:pPr>
            <a:r>
              <a:t>  - DetectText API: Optical Character Recognition extracting LINE-level text</a:t>
            </a:r>
          </a:p>
          <a:p>
            <a:pPr algn="just">
              <a:lnSpc>
                <a:spcPts val="1500"/>
              </a:lnSpc>
              <a:spcBef>
                <a:spcPts val="400"/>
              </a:spcBef>
              <a:spcAft>
                <a:spcPts val="400"/>
              </a:spcAft>
              <a:defRPr sz="1000" b="0">
                <a:solidFill>
                  <a:srgbClr val="000000"/>
                </a:solidFill>
                <a:latin typeface="Verdana"/>
              </a:defRPr>
            </a:pPr>
            <a:r>
              <a:t>    Confidence threshold: 80% for reliable text extraction</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Structured Prompting Strategy:</a:t>
            </a:r>
          </a:p>
          <a:p>
            <a:pPr algn="just">
              <a:lnSpc>
                <a:spcPts val="1500"/>
              </a:lnSpc>
              <a:spcBef>
                <a:spcPts val="400"/>
              </a:spcBef>
              <a:spcAft>
                <a:spcPts val="400"/>
              </a:spcAft>
              <a:defRPr sz="1000" b="0">
                <a:solidFill>
                  <a:srgbClr val="000000"/>
                </a:solidFill>
                <a:latin typeface="Verdana"/>
              </a:defRPr>
            </a:pPr>
            <a:r>
              <a:t>  - Fixed JSON response format reducing output variability</a:t>
            </a:r>
          </a:p>
          <a:p>
            <a:pPr algn="just">
              <a:lnSpc>
                <a:spcPts val="1500"/>
              </a:lnSpc>
              <a:spcBef>
                <a:spcPts val="400"/>
              </a:spcBef>
              <a:spcAft>
                <a:spcPts val="400"/>
              </a:spcAft>
              <a:defRPr sz="1000" b="0">
                <a:solidFill>
                  <a:srgbClr val="000000"/>
                </a:solidFill>
                <a:latin typeface="Verdana"/>
              </a:defRPr>
            </a:pPr>
            <a:r>
              <a:t>  - Enhanced context from multiple sources: sanitized HTML, forms, links, urgency keywords, brand mentions, Rekognition results, and domain intelligence</a:t>
            </a:r>
          </a:p>
          <a:p>
            <a:pPr algn="just">
              <a:lnSpc>
                <a:spcPts val="1500"/>
              </a:lnSpc>
              <a:spcBef>
                <a:spcPts val="400"/>
              </a:spcBef>
              <a:spcAft>
                <a:spcPts val="400"/>
              </a:spcAft>
              <a:defRPr sz="1000" b="0">
                <a:solidFill>
                  <a:srgbClr val="000000"/>
                </a:solidFill>
                <a:latin typeface="Verdana"/>
              </a:defRPr>
            </a:pPr>
            <a:r>
              <a:t>  - XML-style tags for clear separation of system instructions and user content</a:t>
            </a:r>
          </a:p>
          <a:p>
            <a:pPr algn="just">
              <a:lnSpc>
                <a:spcPts val="1500"/>
              </a:lnSpc>
              <a:spcBef>
                <a:spcPts val="400"/>
              </a:spcBef>
              <a:spcAft>
                <a:spcPts val="400"/>
              </a:spcAft>
              <a:defRPr sz="1000" b="0">
                <a:solidFill>
                  <a:srgbClr val="000000"/>
                </a:solidFill>
                <a:latin typeface="Verdana"/>
              </a:defRPr>
            </a:pPr>
            <a:r>
              <a:t>  - Security measures against prompt injection attacks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4.4 Storage and Database Design</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Amazon S3 Configuration:</a:t>
            </a:r>
          </a:p>
          <a:p>
            <a:pPr algn="just">
              <a:lnSpc>
                <a:spcPts val="1500"/>
              </a:lnSpc>
              <a:spcBef>
                <a:spcPts val="400"/>
              </a:spcBef>
              <a:spcAft>
                <a:spcPts val="400"/>
              </a:spcAft>
              <a:defRPr sz="1000" b="0">
                <a:solidFill>
                  <a:srgbClr val="000000"/>
                </a:solidFill>
                <a:latin typeface="Verdana"/>
              </a:defRPr>
            </a:pPr>
            <a:r>
              <a:t>  - Central artifact repository for HTML content, screenshots, and metadata</a:t>
            </a:r>
          </a:p>
          <a:p>
            <a:pPr algn="just">
              <a:lnSpc>
                <a:spcPts val="1500"/>
              </a:lnSpc>
              <a:spcBef>
                <a:spcPts val="400"/>
              </a:spcBef>
              <a:spcAft>
                <a:spcPts val="400"/>
              </a:spcAft>
              <a:defRPr sz="1000" b="0">
                <a:solidFill>
                  <a:srgbClr val="000000"/>
                </a:solidFill>
                <a:latin typeface="Verdana"/>
              </a:defRPr>
            </a:pPr>
            <a:r>
              <a:t>  - Organized by scan ID: scans/{scanId}/</a:t>
            </a:r>
          </a:p>
          <a:p>
            <a:pPr algn="just">
              <a:lnSpc>
                <a:spcPts val="1500"/>
              </a:lnSpc>
              <a:spcBef>
                <a:spcPts val="400"/>
              </a:spcBef>
              <a:spcAft>
                <a:spcPts val="400"/>
              </a:spcAft>
              <a:defRPr sz="1000" b="0">
                <a:solidFill>
                  <a:srgbClr val="000000"/>
                </a:solidFill>
                <a:latin typeface="Verdana"/>
              </a:defRPr>
            </a:pPr>
            <a:r>
              <a:t>  - Server-side encryption (AES-256)</a:t>
            </a:r>
          </a:p>
          <a:p>
            <a:pPr algn="just">
              <a:lnSpc>
                <a:spcPts val="1500"/>
              </a:lnSpc>
              <a:spcBef>
                <a:spcPts val="400"/>
              </a:spcBef>
              <a:spcAft>
                <a:spcPts val="400"/>
              </a:spcAft>
              <a:defRPr sz="1000" b="0">
                <a:solidFill>
                  <a:srgbClr val="000000"/>
                </a:solidFill>
                <a:latin typeface="Verdana"/>
              </a:defRPr>
            </a:pPr>
            <a:r>
              <a:t>  - Lifecycle policy: Auto-delete after 7 days</a:t>
            </a:r>
          </a:p>
          <a:p>
            <a:pPr algn="just">
              <a:lnSpc>
                <a:spcPts val="1500"/>
              </a:lnSpc>
              <a:spcBef>
                <a:spcPts val="400"/>
              </a:spcBef>
              <a:spcAft>
                <a:spcPts val="400"/>
              </a:spcAft>
              <a:defRPr sz="1000" b="0">
                <a:solidFill>
                  <a:srgbClr val="000000"/>
                </a:solidFill>
                <a:latin typeface="Verdana"/>
              </a:defRPr>
            </a:pPr>
            <a:r>
              <a:t>  - Versioning disabled for cost optimization</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Amazon DynamoDB Schema:</a:t>
            </a:r>
          </a:p>
          <a:p>
            <a:pPr algn="just">
              <a:lnSpc>
                <a:spcPts val="1500"/>
              </a:lnSpc>
              <a:spcBef>
                <a:spcPts val="400"/>
              </a:spcBef>
              <a:spcAft>
                <a:spcPts val="400"/>
              </a:spcAft>
              <a:defRPr sz="1000" b="0">
                <a:solidFill>
                  <a:srgbClr val="000000"/>
                </a:solidFill>
                <a:latin typeface="Verdana"/>
              </a:defRPr>
            </a:pPr>
            <a:r>
              <a:t>  - Primary key: url (HASH) + timestamp (RANGE)</a:t>
            </a:r>
          </a:p>
          <a:p>
            <a:pPr algn="just">
              <a:lnSpc>
                <a:spcPts val="1500"/>
              </a:lnSpc>
              <a:spcBef>
                <a:spcPts val="400"/>
              </a:spcBef>
              <a:spcAft>
                <a:spcPts val="400"/>
              </a:spcAft>
              <a:defRPr sz="1000" b="0">
                <a:solidFill>
                  <a:srgbClr val="000000"/>
                </a:solidFill>
                <a:latin typeface="Verdana"/>
              </a:defRPr>
            </a:pPr>
            <a:r>
              <a:t>  - Global Secondary Indexes:</a:t>
            </a:r>
          </a:p>
          <a:p>
            <a:pPr algn="just">
              <a:lnSpc>
                <a:spcPts val="1500"/>
              </a:lnSpc>
              <a:spcBef>
                <a:spcPts val="400"/>
              </a:spcBef>
              <a:spcAft>
                <a:spcPts val="400"/>
              </a:spcAft>
              <a:defRPr sz="1000" b="0">
                <a:solidFill>
                  <a:srgbClr val="000000"/>
                </a:solidFill>
                <a:latin typeface="Verdana"/>
              </a:defRPr>
            </a:pPr>
            <a:r>
              <a:t>    * verdict-timestamp-index: Query by verdict type</a:t>
            </a:r>
          </a:p>
          <a:p>
            <a:pPr algn="just">
              <a:lnSpc>
                <a:spcPts val="1500"/>
              </a:lnSpc>
              <a:spcBef>
                <a:spcPts val="400"/>
              </a:spcBef>
              <a:spcAft>
                <a:spcPts val="400"/>
              </a:spcAft>
              <a:defRPr sz="1000" b="0">
                <a:solidFill>
                  <a:srgbClr val="000000"/>
                </a:solidFill>
                <a:latin typeface="Verdana"/>
              </a:defRPr>
            </a:pPr>
            <a:r>
              <a:t>    * scanId-index: Fast lookup by scan ID (for real-time polling)</a:t>
            </a:r>
          </a:p>
          <a:p>
            <a:pPr algn="just">
              <a:lnSpc>
                <a:spcPts val="1500"/>
              </a:lnSpc>
              <a:spcBef>
                <a:spcPts val="400"/>
              </a:spcBef>
              <a:spcAft>
                <a:spcPts val="400"/>
              </a:spcAft>
              <a:defRPr sz="1000" b="0">
                <a:solidFill>
                  <a:srgbClr val="000000"/>
                </a:solidFill>
                <a:latin typeface="Verdana"/>
              </a:defRPr>
            </a:pPr>
            <a:r>
              <a:t>  - On-demand billing mode (auto-scaling)</a:t>
            </a:r>
          </a:p>
          <a:p>
            <a:pPr algn="just">
              <a:lnSpc>
                <a:spcPts val="1500"/>
              </a:lnSpc>
              <a:spcBef>
                <a:spcPts val="400"/>
              </a:spcBef>
              <a:spcAft>
                <a:spcPts val="400"/>
              </a:spcAft>
              <a:defRPr sz="1000" b="0">
                <a:solidFill>
                  <a:srgbClr val="000000"/>
                </a:solidFill>
                <a:latin typeface="Verdana"/>
              </a:defRPr>
            </a:pPr>
            <a:r>
              <a:t>  - Point-in-time recovery enabled</a:t>
            </a:r>
          </a:p>
          <a:p>
            <a:pPr algn="just">
              <a:lnSpc>
                <a:spcPts val="1500"/>
              </a:lnSpc>
              <a:spcBef>
                <a:spcPts val="400"/>
              </a:spcBef>
              <a:spcAft>
                <a:spcPts val="400"/>
              </a:spcAft>
              <a:defRPr sz="1000" b="0">
                <a:solidFill>
                  <a:srgbClr val="000000"/>
                </a:solidFill>
                <a:latin typeface="Verdana"/>
              </a:defRPr>
            </a:pPr>
            <a:r>
              <a:t>  - Server-side encryption enabled</a:t>
            </a:r>
          </a:p>
          <a:p>
            <a:pPr algn="just">
              <a:lnSpc>
                <a:spcPts val="1500"/>
              </a:lnSpc>
              <a:spcBef>
                <a:spcPts val="400"/>
              </a:spcBef>
              <a:spcAft>
                <a:spcPts val="400"/>
              </a:spcAft>
              <a:defRPr sz="1000" b="0">
                <a:solidFill>
                  <a:srgbClr val="000000"/>
                </a:solidFill>
                <a:latin typeface="Verdana"/>
              </a:defRPr>
            </a:pPr>
            <a:r>
              <a:t>  - TTL: 30-day automatic expiration</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Frontend Implementation:</a:t>
            </a:r>
          </a:p>
          <a:p>
            <a:pPr algn="just">
              <a:lnSpc>
                <a:spcPts val="1500"/>
              </a:lnSpc>
              <a:spcBef>
                <a:spcPts val="400"/>
              </a:spcBef>
              <a:spcAft>
                <a:spcPts val="400"/>
              </a:spcAft>
              <a:defRPr sz="1000" b="0">
                <a:solidFill>
                  <a:srgbClr val="000000"/>
                </a:solidFill>
                <a:latin typeface="Verdana"/>
              </a:defRPr>
            </a:pPr>
            <a:r>
              <a:t>  - Next.js 14 with TypeScript for type safety</a:t>
            </a:r>
          </a:p>
          <a:p>
            <a:pPr algn="just">
              <a:lnSpc>
                <a:spcPts val="1500"/>
              </a:lnSpc>
              <a:spcBef>
                <a:spcPts val="400"/>
              </a:spcBef>
              <a:spcAft>
                <a:spcPts val="400"/>
              </a:spcAft>
              <a:defRPr sz="1000" b="0">
                <a:solidFill>
                  <a:srgbClr val="000000"/>
                </a:solidFill>
                <a:latin typeface="Verdana"/>
              </a:defRPr>
            </a:pPr>
            <a:r>
              <a:t>  - Real-time polling using scanId-based queries</a:t>
            </a:r>
          </a:p>
          <a:p>
            <a:pPr algn="just">
              <a:lnSpc>
                <a:spcPts val="1500"/>
              </a:lnSpc>
              <a:spcBef>
                <a:spcPts val="400"/>
              </a:spcBef>
              <a:spcAft>
                <a:spcPts val="400"/>
              </a:spcAft>
              <a:defRPr sz="1000" b="0">
                <a:solidFill>
                  <a:srgbClr val="000000"/>
                </a:solidFill>
                <a:latin typeface="Verdana"/>
              </a:defRPr>
            </a:pPr>
            <a:r>
              <a:t>  - Responsive design with Tailwind CSS</a:t>
            </a:r>
          </a:p>
          <a:p>
            <a:pPr algn="just">
              <a:lnSpc>
                <a:spcPts val="1500"/>
              </a:lnSpc>
              <a:spcBef>
                <a:spcPts val="400"/>
              </a:spcBef>
              <a:spcAft>
                <a:spcPts val="400"/>
              </a:spcAft>
              <a:defRPr sz="1000" b="0">
                <a:solidFill>
                  <a:srgbClr val="000000"/>
                </a:solidFill>
                <a:latin typeface="Verdana"/>
              </a:defRPr>
            </a:pPr>
            <a:r>
              <a:t>  - Scan history page with filtering and sorting</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6994"/>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058400" cy="914400"/>
          </a:xfrm>
          <a:prstGeom prst="rect">
            <a:avLst/>
          </a:prstGeom>
          <a:noFill/>
        </p:spPr>
        <p:txBody>
          <a:bodyPr wrap="square">
            <a:spAutoFit/>
          </a:bodyPr>
          <a:lstStyle/>
          <a:p>
            <a:pPr algn="ctr">
              <a:lnSpc>
                <a:spcPts val="2400"/>
              </a:lnSpc>
              <a:spcAft>
                <a:spcPts val="600"/>
              </a:spcAft>
              <a:defRPr sz="1600" b="1">
                <a:solidFill>
                  <a:srgbClr val="FFFFFF"/>
                </a:solidFill>
                <a:latin typeface="Verdana"/>
              </a:defRPr>
            </a:pPr>
            <a:r>
              <a:t>CHAPTER 5</a:t>
            </a:r>
          </a:p>
        </p:txBody>
      </p:sp>
      <p:sp>
        <p:nvSpPr>
          <p:cNvPr id="3" name="TextBox 2"/>
          <p:cNvSpPr txBox="1"/>
          <p:nvPr/>
        </p:nvSpPr>
        <p:spPr>
          <a:xfrm>
            <a:off x="914400" y="2926080"/>
            <a:ext cx="10058400" cy="1371600"/>
          </a:xfrm>
          <a:prstGeom prst="rect">
            <a:avLst/>
          </a:prstGeom>
          <a:noFill/>
        </p:spPr>
        <p:txBody>
          <a:bodyPr wrap="square">
            <a:spAutoFit/>
          </a:bodyPr>
          <a:lstStyle/>
          <a:p>
            <a:pPr algn="ctr">
              <a:lnSpc>
                <a:spcPts val="3600"/>
              </a:lnSpc>
              <a:spcAft>
                <a:spcPts val="600"/>
              </a:spcAft>
              <a:defRPr sz="2400" b="1">
                <a:solidFill>
                  <a:srgbClr val="FFFFFF"/>
                </a:solidFill>
                <a:latin typeface="Verdana"/>
              </a:defRPr>
            </a:pPr>
            <a:r>
              <a:t>EXECUTION PROCEDURE AND TESTING</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5.1 Execution Procedure</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Standard Flow (Non-Whitelisted Domain):</a:t>
            </a:r>
          </a:p>
          <a:p>
            <a:pPr algn="just">
              <a:lnSpc>
                <a:spcPts val="1500"/>
              </a:lnSpc>
              <a:spcBef>
                <a:spcPts val="400"/>
              </a:spcBef>
              <a:spcAft>
                <a:spcPts val="400"/>
              </a:spcAft>
              <a:defRPr sz="1000" b="0">
                <a:solidFill>
                  <a:srgbClr val="000000"/>
                </a:solidFill>
                <a:latin typeface="Verdana"/>
              </a:defRPr>
            </a:pPr>
            <a:r>
              <a:t>1. User submits URL through the Next.js web interface</a:t>
            </a:r>
          </a:p>
          <a:p>
            <a:pPr algn="just">
              <a:lnSpc>
                <a:spcPts val="1500"/>
              </a:lnSpc>
              <a:spcBef>
                <a:spcPts val="400"/>
              </a:spcBef>
              <a:spcAft>
                <a:spcPts val="400"/>
              </a:spcAft>
              <a:defRPr sz="1000" b="0">
                <a:solidFill>
                  <a:srgbClr val="000000"/>
                </a:solidFill>
                <a:latin typeface="Verdana"/>
              </a:defRPr>
            </a:pPr>
            <a:r>
              <a:t>2. API Gateway validates request and forwards to API Handler Lambda</a:t>
            </a:r>
          </a:p>
          <a:p>
            <a:pPr algn="just">
              <a:lnSpc>
                <a:spcPts val="1500"/>
              </a:lnSpc>
              <a:spcBef>
                <a:spcPts val="400"/>
              </a:spcBef>
              <a:spcAft>
                <a:spcPts val="400"/>
              </a:spcAft>
              <a:defRPr sz="1000" b="0">
                <a:solidFill>
                  <a:srgbClr val="000000"/>
                </a:solidFill>
                <a:latin typeface="Verdana"/>
              </a:defRPr>
            </a:pPr>
            <a:r>
              <a:t>3. API Handler generates unique scanId (UUID v4) and returns to user</a:t>
            </a:r>
          </a:p>
          <a:p>
            <a:pPr algn="just">
              <a:lnSpc>
                <a:spcPts val="1500"/>
              </a:lnSpc>
              <a:spcBef>
                <a:spcPts val="400"/>
              </a:spcBef>
              <a:spcAft>
                <a:spcPts val="400"/>
              </a:spcAft>
              <a:defRPr sz="1000" b="0">
                <a:solidFill>
                  <a:srgbClr val="000000"/>
                </a:solidFill>
                <a:latin typeface="Verdana"/>
              </a:defRPr>
            </a:pPr>
            <a:r>
              <a:t>4. Web Crawler Lambda fetches URL using headless Chrome (Puppeteer)</a:t>
            </a:r>
          </a:p>
          <a:p>
            <a:pPr algn="just">
              <a:lnSpc>
                <a:spcPts val="1500"/>
              </a:lnSpc>
              <a:spcBef>
                <a:spcPts val="400"/>
              </a:spcBef>
              <a:spcAft>
                <a:spcPts val="400"/>
              </a:spcAft>
              <a:defRPr sz="1000" b="0">
                <a:solidFill>
                  <a:srgbClr val="000000"/>
                </a:solidFill>
                <a:latin typeface="Verdana"/>
              </a:defRPr>
            </a:pPr>
            <a:r>
              <a:t>5. Crawler captures screenshot, extracts HTML, stores artifacts in S3</a:t>
            </a:r>
          </a:p>
          <a:p>
            <a:pPr algn="just">
              <a:lnSpc>
                <a:spcPts val="1500"/>
              </a:lnSpc>
              <a:spcBef>
                <a:spcPts val="400"/>
              </a:spcBef>
              <a:spcAft>
                <a:spcPts val="400"/>
              </a:spcAft>
              <a:defRPr sz="1000" b="0">
                <a:solidFill>
                  <a:srgbClr val="000000"/>
                </a:solidFill>
                <a:latin typeface="Verdana"/>
              </a:defRPr>
            </a:pPr>
            <a:r>
              <a:t>6. Analyzer Lambda retrieves artifacts from S3</a:t>
            </a:r>
          </a:p>
          <a:p>
            <a:pPr algn="just">
              <a:lnSpc>
                <a:spcPts val="1500"/>
              </a:lnSpc>
              <a:spcBef>
                <a:spcPts val="400"/>
              </a:spcBef>
              <a:spcAft>
                <a:spcPts val="400"/>
              </a:spcAft>
              <a:defRPr sz="1000" b="0">
                <a:solidFill>
                  <a:srgbClr val="000000"/>
                </a:solidFill>
                <a:latin typeface="Verdana"/>
              </a:defRPr>
            </a:pPr>
            <a:r>
              <a:t>7. Analyzer checks domain against whitelist (not found for this flow)</a:t>
            </a:r>
          </a:p>
          <a:p>
            <a:pPr algn="just">
              <a:lnSpc>
                <a:spcPts val="1500"/>
              </a:lnSpc>
              <a:spcBef>
                <a:spcPts val="400"/>
              </a:spcBef>
              <a:spcAft>
                <a:spcPts val="400"/>
              </a:spcAft>
              <a:defRPr sz="1000" b="0">
                <a:solidFill>
                  <a:srgbClr val="000000"/>
                </a:solidFill>
                <a:latin typeface="Verdana"/>
              </a:defRPr>
            </a:pPr>
            <a:r>
              <a:t>8. Analyzer invokes Rekognition for logo detection and OCR</a:t>
            </a:r>
          </a:p>
          <a:p>
            <a:pPr algn="just">
              <a:lnSpc>
                <a:spcPts val="1500"/>
              </a:lnSpc>
              <a:spcBef>
                <a:spcPts val="400"/>
              </a:spcBef>
              <a:spcAft>
                <a:spcPts val="400"/>
              </a:spcAft>
              <a:defRPr sz="1000" b="0">
                <a:solidFill>
                  <a:srgbClr val="000000"/>
                </a:solidFill>
                <a:latin typeface="Verdana"/>
              </a:defRPr>
            </a:pPr>
            <a:r>
              <a:t>9. Analyzer performs domain intelligence analysis</a:t>
            </a:r>
          </a:p>
          <a:p>
            <a:pPr algn="just">
              <a:lnSpc>
                <a:spcPts val="1500"/>
              </a:lnSpc>
              <a:spcBef>
                <a:spcPts val="400"/>
              </a:spcBef>
              <a:spcAft>
                <a:spcPts val="400"/>
              </a:spcAft>
              <a:defRPr sz="1000" b="0">
                <a:solidFill>
                  <a:srgbClr val="000000"/>
                </a:solidFill>
                <a:latin typeface="Verdana"/>
              </a:defRPr>
            </a:pPr>
            <a:r>
              <a:t>10. Analyzer sanitizes HTML and constructs enhanced prompt</a:t>
            </a:r>
          </a:p>
          <a:p>
            <a:pPr algn="just">
              <a:lnSpc>
                <a:spcPts val="1500"/>
              </a:lnSpc>
              <a:spcBef>
                <a:spcPts val="400"/>
              </a:spcBef>
              <a:spcAft>
                <a:spcPts val="400"/>
              </a:spcAft>
              <a:defRPr sz="1000" b="0">
                <a:solidFill>
                  <a:srgbClr val="000000"/>
                </a:solidFill>
                <a:latin typeface="Verdana"/>
              </a:defRPr>
            </a:pPr>
            <a:r>
              <a:t>11. Analyzer invokes Bedrock Nova Premier with multimodal input</a:t>
            </a:r>
          </a:p>
          <a:p>
            <a:pPr algn="just">
              <a:lnSpc>
                <a:spcPts val="1500"/>
              </a:lnSpc>
              <a:spcBef>
                <a:spcPts val="400"/>
              </a:spcBef>
              <a:spcAft>
                <a:spcPts val="400"/>
              </a:spcAft>
              <a:defRPr sz="1000" b="0">
                <a:solidFill>
                  <a:srgbClr val="000000"/>
                </a:solidFill>
                <a:latin typeface="Verdana"/>
              </a:defRPr>
            </a:pPr>
            <a:r>
              <a:t>12. Analyzer parses LLM response and enhances risk score</a:t>
            </a:r>
          </a:p>
          <a:p>
            <a:pPr algn="just">
              <a:lnSpc>
                <a:spcPts val="1500"/>
              </a:lnSpc>
              <a:spcBef>
                <a:spcPts val="400"/>
              </a:spcBef>
              <a:spcAft>
                <a:spcPts val="400"/>
              </a:spcAft>
              <a:defRPr sz="1000" b="0">
                <a:solidFill>
                  <a:srgbClr val="000000"/>
                </a:solidFill>
                <a:latin typeface="Verdana"/>
              </a:defRPr>
            </a:pPr>
            <a:r>
              <a:t>13. Results Handler stores final verdict in DynamoDB</a:t>
            </a:r>
          </a:p>
          <a:p>
            <a:pPr algn="just">
              <a:lnSpc>
                <a:spcPts val="1500"/>
              </a:lnSpc>
              <a:spcBef>
                <a:spcPts val="400"/>
              </a:spcBef>
              <a:spcAft>
                <a:spcPts val="400"/>
              </a:spcAft>
              <a:defRPr sz="1000" b="0">
                <a:solidFill>
                  <a:srgbClr val="000000"/>
                </a:solidFill>
                <a:latin typeface="Verdana"/>
              </a:defRPr>
            </a:pPr>
            <a:r>
              <a:t>14. Frontend polls by scanId and displays results to user</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Fast-Path Flow (Whitelisted Domain):</a:t>
            </a:r>
          </a:p>
          <a:p>
            <a:pPr algn="just">
              <a:lnSpc>
                <a:spcPts val="1500"/>
              </a:lnSpc>
              <a:spcBef>
                <a:spcPts val="400"/>
              </a:spcBef>
              <a:spcAft>
                <a:spcPts val="400"/>
              </a:spcAft>
              <a:defRPr sz="1000" b="0">
                <a:solidFill>
                  <a:srgbClr val="000000"/>
                </a:solidFill>
                <a:latin typeface="Verdana"/>
              </a:defRPr>
            </a:pPr>
            <a:r>
              <a:t>Steps 1-6 same as above. At step 7, domain is found in whitelist. Immediate legitimate verdict generated (Risk: 5, Confidence: High). Rekognition and Bedrock are skipped. Processing time: &lt;100ms.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5.2 Test Dataset and Methodology</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Test Dataset Composition (1,200 URLs total):</a:t>
            </a:r>
          </a:p>
          <a:p>
            <a:pPr algn="just">
              <a:lnSpc>
                <a:spcPts val="1500"/>
              </a:lnSpc>
              <a:spcBef>
                <a:spcPts val="400"/>
              </a:spcBef>
              <a:spcAft>
                <a:spcPts val="400"/>
              </a:spcAft>
              <a:defRPr sz="1000" b="0">
                <a:solidFill>
                  <a:srgbClr val="000000"/>
                </a:solidFill>
                <a:latin typeface="Verdana"/>
              </a:defRPr>
            </a:pPr>
            <a:r>
              <a:t>  - Legitimate websites: 500 URLs from trusted domains (banks, e-commerce, government, tech)</a:t>
            </a:r>
          </a:p>
          <a:p>
            <a:pPr algn="just">
              <a:lnSpc>
                <a:spcPts val="1500"/>
              </a:lnSpc>
              <a:spcBef>
                <a:spcPts val="400"/>
              </a:spcBef>
              <a:spcAft>
                <a:spcPts val="400"/>
              </a:spcAft>
              <a:defRPr sz="1000" b="0">
                <a:solidFill>
                  <a:srgbClr val="000000"/>
                </a:solidFill>
                <a:latin typeface="Verdana"/>
              </a:defRPr>
            </a:pPr>
            <a:r>
              <a:t>  - Phishing websites: 500 URLs from PhishTank and OpenPhish databases</a:t>
            </a:r>
          </a:p>
          <a:p>
            <a:pPr algn="just">
              <a:lnSpc>
                <a:spcPts val="1500"/>
              </a:lnSpc>
              <a:spcBef>
                <a:spcPts val="400"/>
              </a:spcBef>
              <a:spcAft>
                <a:spcPts val="400"/>
              </a:spcAft>
              <a:defRPr sz="1000" b="0">
                <a:solidFill>
                  <a:srgbClr val="000000"/>
                </a:solidFill>
                <a:latin typeface="Verdana"/>
              </a:defRPr>
            </a:pPr>
            <a:r>
              <a:t>  - Suspicious websites: 200 URLs with ambiguous characteristics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Categories Tested:</a:t>
            </a:r>
          </a:p>
          <a:p>
            <a:pPr algn="just">
              <a:lnSpc>
                <a:spcPts val="1500"/>
              </a:lnSpc>
              <a:spcBef>
                <a:spcPts val="400"/>
              </a:spcBef>
              <a:spcAft>
                <a:spcPts val="400"/>
              </a:spcAft>
              <a:defRPr sz="1000" b="0">
                <a:solidFill>
                  <a:srgbClr val="000000"/>
                </a:solidFill>
                <a:latin typeface="Verdana"/>
              </a:defRPr>
            </a:pPr>
            <a:r>
              <a:t>  - Brand impersonation (PayPal, Amazon, Microsoft, Apple)</a:t>
            </a:r>
          </a:p>
          <a:p>
            <a:pPr algn="just">
              <a:lnSpc>
                <a:spcPts val="1500"/>
              </a:lnSpc>
              <a:spcBef>
                <a:spcPts val="400"/>
              </a:spcBef>
              <a:spcAft>
                <a:spcPts val="400"/>
              </a:spcAft>
              <a:defRPr sz="1000" b="0">
                <a:solidFill>
                  <a:srgbClr val="000000"/>
                </a:solidFill>
                <a:latin typeface="Verdana"/>
              </a:defRPr>
            </a:pPr>
            <a:r>
              <a:t>  - Financial phishing (banking, cryptocurrency)</a:t>
            </a:r>
          </a:p>
          <a:p>
            <a:pPr algn="just">
              <a:lnSpc>
                <a:spcPts val="1500"/>
              </a:lnSpc>
              <a:spcBef>
                <a:spcPts val="400"/>
              </a:spcBef>
              <a:spcAft>
                <a:spcPts val="400"/>
              </a:spcAft>
              <a:defRPr sz="1000" b="0">
                <a:solidFill>
                  <a:srgbClr val="000000"/>
                </a:solidFill>
                <a:latin typeface="Verdana"/>
              </a:defRPr>
            </a:pPr>
            <a:r>
              <a:t>  - Social engineering (fake security alerts, prize scams)</a:t>
            </a:r>
          </a:p>
          <a:p>
            <a:pPr algn="just">
              <a:lnSpc>
                <a:spcPts val="1500"/>
              </a:lnSpc>
              <a:spcBef>
                <a:spcPts val="400"/>
              </a:spcBef>
              <a:spcAft>
                <a:spcPts val="400"/>
              </a:spcAft>
              <a:defRPr sz="1000" b="0">
                <a:solidFill>
                  <a:srgbClr val="000000"/>
                </a:solidFill>
                <a:latin typeface="Verdana"/>
              </a:defRPr>
            </a:pPr>
            <a:r>
              <a:t>  - Credential harvesting (fake login pages)</a:t>
            </a:r>
          </a:p>
          <a:p>
            <a:pPr algn="just">
              <a:lnSpc>
                <a:spcPts val="1500"/>
              </a:lnSpc>
              <a:spcBef>
                <a:spcPts val="400"/>
              </a:spcBef>
              <a:spcAft>
                <a:spcPts val="400"/>
              </a:spcAft>
              <a:defRPr sz="1000" b="0">
                <a:solidFill>
                  <a:srgbClr val="000000"/>
                </a:solidFill>
                <a:latin typeface="Verdana"/>
              </a:defRPr>
            </a:pPr>
            <a:r>
              <a:t>  - Package delivery scams</a:t>
            </a:r>
          </a:p>
          <a:p>
            <a:pPr algn="just">
              <a:lnSpc>
                <a:spcPts val="1500"/>
              </a:lnSpc>
              <a:spcBef>
                <a:spcPts val="400"/>
              </a:spcBef>
              <a:spcAft>
                <a:spcPts val="400"/>
              </a:spcAft>
              <a:defRPr sz="1000" b="0">
                <a:solidFill>
                  <a:srgbClr val="000000"/>
                </a:solidFill>
                <a:latin typeface="Verdana"/>
              </a:defRPr>
            </a:pPr>
            <a:r>
              <a:t>  - Government impersonation</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Evaluation Metrics:</a:t>
            </a:r>
          </a:p>
          <a:p>
            <a:pPr algn="just">
              <a:lnSpc>
                <a:spcPts val="1500"/>
              </a:lnSpc>
              <a:spcBef>
                <a:spcPts val="400"/>
              </a:spcBef>
              <a:spcAft>
                <a:spcPts val="400"/>
              </a:spcAft>
              <a:defRPr sz="1000" b="0">
                <a:solidFill>
                  <a:srgbClr val="000000"/>
                </a:solidFill>
                <a:latin typeface="Verdana"/>
              </a:defRPr>
            </a:pPr>
            <a:r>
              <a:t>  - Accuracy: (TP + TN) / Total</a:t>
            </a:r>
          </a:p>
          <a:p>
            <a:pPr algn="just">
              <a:lnSpc>
                <a:spcPts val="1500"/>
              </a:lnSpc>
              <a:spcBef>
                <a:spcPts val="400"/>
              </a:spcBef>
              <a:spcAft>
                <a:spcPts val="400"/>
              </a:spcAft>
              <a:defRPr sz="1000" b="0">
                <a:solidFill>
                  <a:srgbClr val="000000"/>
                </a:solidFill>
                <a:latin typeface="Verdana"/>
              </a:defRPr>
            </a:pPr>
            <a:r>
              <a:t>  - Precision: TP / (TP + FP)</a:t>
            </a:r>
          </a:p>
          <a:p>
            <a:pPr algn="just">
              <a:lnSpc>
                <a:spcPts val="1500"/>
              </a:lnSpc>
              <a:spcBef>
                <a:spcPts val="400"/>
              </a:spcBef>
              <a:spcAft>
                <a:spcPts val="400"/>
              </a:spcAft>
              <a:defRPr sz="1000" b="0">
                <a:solidFill>
                  <a:srgbClr val="000000"/>
                </a:solidFill>
                <a:latin typeface="Verdana"/>
              </a:defRPr>
            </a:pPr>
            <a:r>
              <a:t>  - Recall: TP / (TP + FN)</a:t>
            </a:r>
          </a:p>
          <a:p>
            <a:pPr algn="just">
              <a:lnSpc>
                <a:spcPts val="1500"/>
              </a:lnSpc>
              <a:spcBef>
                <a:spcPts val="400"/>
              </a:spcBef>
              <a:spcAft>
                <a:spcPts val="400"/>
              </a:spcAft>
              <a:defRPr sz="1000" b="0">
                <a:solidFill>
                  <a:srgbClr val="000000"/>
                </a:solidFill>
                <a:latin typeface="Verdana"/>
              </a:defRPr>
            </a:pPr>
            <a:r>
              <a:t>  - F1-Score: 2 x (Precision x Recall) / (Precision + Recall)</a:t>
            </a:r>
          </a:p>
          <a:p>
            <a:pPr algn="just">
              <a:lnSpc>
                <a:spcPts val="1500"/>
              </a:lnSpc>
              <a:spcBef>
                <a:spcPts val="400"/>
              </a:spcBef>
              <a:spcAft>
                <a:spcPts val="400"/>
              </a:spcAft>
              <a:defRPr sz="1000" b="0">
                <a:solidFill>
                  <a:srgbClr val="000000"/>
                </a:solidFill>
                <a:latin typeface="Verdana"/>
              </a:defRPr>
            </a:pPr>
            <a:r>
              <a:t>  - Processing Time: Average time per URL analysis</a:t>
            </a:r>
          </a:p>
          <a:p>
            <a:pPr algn="just">
              <a:lnSpc>
                <a:spcPts val="1500"/>
              </a:lnSpc>
              <a:spcBef>
                <a:spcPts val="400"/>
              </a:spcBef>
              <a:spcAft>
                <a:spcPts val="400"/>
              </a:spcAft>
              <a:defRPr sz="1000" b="0">
                <a:solidFill>
                  <a:srgbClr val="000000"/>
                </a:solidFill>
                <a:latin typeface="Verdana"/>
              </a:defRPr>
            </a:pPr>
            <a:r>
              <a:t>  - Cost per Scan: Operational cost per URL</a:t>
            </a:r>
          </a:p>
          <a:p>
            <a:pPr algn="just">
              <a:lnSpc>
                <a:spcPts val="1500"/>
              </a:lnSpc>
              <a:spcBef>
                <a:spcPts val="400"/>
              </a:spcBef>
              <a:spcAft>
                <a:spcPts val="400"/>
              </a:spcAft>
              <a:defRPr sz="1000" b="0">
                <a:solidFill>
                  <a:srgbClr val="000000"/>
                </a:solidFill>
                <a:latin typeface="Verdana"/>
              </a:defRPr>
            </a:pPr>
            <a:r>
              <a:t>  - Whitelist Hit Rate: Percentage of scans using fast-path</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5.3 Test Cases</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Test Case 1 - Brand Impersonation Detection:</a:t>
            </a:r>
          </a:p>
          <a:p>
            <a:pPr algn="just">
              <a:lnSpc>
                <a:spcPts val="1500"/>
              </a:lnSpc>
              <a:spcBef>
                <a:spcPts val="400"/>
              </a:spcBef>
              <a:spcAft>
                <a:spcPts val="400"/>
              </a:spcAft>
              <a:defRPr sz="1000" b="0">
                <a:solidFill>
                  <a:srgbClr val="000000"/>
                </a:solidFill>
                <a:latin typeface="Verdana"/>
              </a:defRPr>
            </a:pPr>
            <a:r>
              <a:t>URL: http://paypa1-secure-verify.tk/login (PayPal impersonation)</a:t>
            </a:r>
          </a:p>
          <a:p>
            <a:pPr algn="just">
              <a:lnSpc>
                <a:spcPts val="1500"/>
              </a:lnSpc>
              <a:spcBef>
                <a:spcPts val="400"/>
              </a:spcBef>
              <a:spcAft>
                <a:spcPts val="400"/>
              </a:spcAft>
              <a:defRPr sz="1000" b="0">
                <a:solidFill>
                  <a:srgbClr val="000000"/>
                </a:solidFill>
                <a:latin typeface="Verdana"/>
              </a:defRPr>
            </a:pPr>
            <a:r>
              <a:t>v1 Result: Suspicious, Risk 65 (missed visual mismatch and suspicious TLD)</a:t>
            </a:r>
          </a:p>
          <a:p>
            <a:pPr algn="just">
              <a:lnSpc>
                <a:spcPts val="1500"/>
              </a:lnSpc>
              <a:spcBef>
                <a:spcPts val="400"/>
              </a:spcBef>
              <a:spcAft>
                <a:spcPts val="400"/>
              </a:spcAft>
              <a:defRPr sz="1000" b="0">
                <a:solidFill>
                  <a:srgbClr val="000000"/>
                </a:solidFill>
                <a:latin typeface="Verdana"/>
              </a:defRPr>
            </a:pPr>
            <a:r>
              <a:t>Enhanced Result: Phishing, Risk 85 (detected typosquatting, visual brand mismatch, suspicious TLD .tk, numbers in domain). Correct verdict with +20 risk score.</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Test Case 2 - Sophisticated Visual Deception:</a:t>
            </a:r>
          </a:p>
          <a:p>
            <a:pPr algn="just">
              <a:lnSpc>
                <a:spcPts val="1500"/>
              </a:lnSpc>
              <a:spcBef>
                <a:spcPts val="400"/>
              </a:spcBef>
              <a:spcAft>
                <a:spcPts val="400"/>
              </a:spcAft>
              <a:defRPr sz="1000" b="0">
                <a:solidFill>
                  <a:srgbClr val="000000"/>
                </a:solidFill>
                <a:latin typeface="Verdana"/>
              </a:defRPr>
            </a:pPr>
            <a:r>
              <a:t>URL: https://amazon-security-check.xyz (pixel-perfect Amazon clone)</a:t>
            </a:r>
          </a:p>
          <a:p>
            <a:pPr algn="just">
              <a:lnSpc>
                <a:spcPts val="1500"/>
              </a:lnSpc>
              <a:spcBef>
                <a:spcPts val="400"/>
              </a:spcBef>
              <a:spcAft>
                <a:spcPts val="400"/>
              </a:spcAft>
              <a:defRPr sz="1000" b="0">
                <a:solidFill>
                  <a:srgbClr val="000000"/>
                </a:solidFill>
                <a:latin typeface="Verdana"/>
              </a:defRPr>
            </a:pPr>
            <a:r>
              <a:t>v1 Result: Suspicious, Risk 55 (detected non-official domain only)</a:t>
            </a:r>
          </a:p>
          <a:p>
            <a:pPr algn="just">
              <a:lnSpc>
                <a:spcPts val="1500"/>
              </a:lnSpc>
              <a:spcBef>
                <a:spcPts val="400"/>
              </a:spcBef>
              <a:spcAft>
                <a:spcPts val="400"/>
              </a:spcAft>
              <a:defRPr sz="1000" b="0">
                <a:solidFill>
                  <a:srgbClr val="000000"/>
                </a:solidFill>
                <a:latin typeface="Verdana"/>
              </a:defRPr>
            </a:pPr>
            <a:r>
              <a:t>Enhanced Result: Phishing, Risk 75 (detected Amazon logo via Rekognition, brand mismatch, suspicious TLD .xyz, excessive hyphens). Correct verdict.</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Test Case 3 - False Positive Reduction:</a:t>
            </a:r>
          </a:p>
          <a:p>
            <a:pPr algn="just">
              <a:lnSpc>
                <a:spcPts val="1500"/>
              </a:lnSpc>
              <a:spcBef>
                <a:spcPts val="400"/>
              </a:spcBef>
              <a:spcAft>
                <a:spcPts val="400"/>
              </a:spcAft>
              <a:defRPr sz="1000" b="0">
                <a:solidFill>
                  <a:srgbClr val="000000"/>
                </a:solidFill>
                <a:latin typeface="Verdana"/>
              </a:defRPr>
            </a:pPr>
            <a:r>
              <a:t>URL: https://newstartup-payments.io (legitimate new startup)</a:t>
            </a:r>
          </a:p>
          <a:p>
            <a:pPr algn="just">
              <a:lnSpc>
                <a:spcPts val="1500"/>
              </a:lnSpc>
              <a:spcBef>
                <a:spcPts val="400"/>
              </a:spcBef>
              <a:spcAft>
                <a:spcPts val="400"/>
              </a:spcAft>
              <a:defRPr sz="1000" b="0">
                <a:solidFill>
                  <a:srgbClr val="000000"/>
                </a:solidFill>
                <a:latin typeface="Verdana"/>
              </a:defRPr>
            </a:pPr>
            <a:r>
              <a:t>v1 Result: Suspicious, Risk 45 (false positive due to payment keywords)</a:t>
            </a:r>
          </a:p>
          <a:p>
            <a:pPr algn="just">
              <a:lnSpc>
                <a:spcPts val="1500"/>
              </a:lnSpc>
              <a:spcBef>
                <a:spcPts val="400"/>
              </a:spcBef>
              <a:spcAft>
                <a:spcPts val="400"/>
              </a:spcAft>
              <a:defRPr sz="1000" b="0">
                <a:solidFill>
                  <a:srgbClr val="000000"/>
                </a:solidFill>
                <a:latin typeface="Verdana"/>
              </a:defRPr>
            </a:pPr>
            <a:r>
              <a:t>Enhanced Result: Legitimate, Risk 25 (no brand impersonation detected by Rekognition, acceptable domain patterns, professional content). Correct classification.</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These test cases demonstrate the multi-modal advantage: each detection modality captures different aspects of phishing attempts that single-modal systems would miss.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6994"/>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058400" cy="914400"/>
          </a:xfrm>
          <a:prstGeom prst="rect">
            <a:avLst/>
          </a:prstGeom>
          <a:noFill/>
        </p:spPr>
        <p:txBody>
          <a:bodyPr wrap="square">
            <a:spAutoFit/>
          </a:bodyPr>
          <a:lstStyle/>
          <a:p>
            <a:pPr algn="ctr">
              <a:lnSpc>
                <a:spcPts val="2400"/>
              </a:lnSpc>
              <a:spcAft>
                <a:spcPts val="600"/>
              </a:spcAft>
              <a:defRPr sz="1600" b="1">
                <a:solidFill>
                  <a:srgbClr val="FFFFFF"/>
                </a:solidFill>
                <a:latin typeface="Verdana"/>
              </a:defRPr>
            </a:pPr>
            <a:r>
              <a:t>CHAPTER 6</a:t>
            </a:r>
          </a:p>
        </p:txBody>
      </p:sp>
      <p:sp>
        <p:nvSpPr>
          <p:cNvPr id="3" name="TextBox 2"/>
          <p:cNvSpPr txBox="1"/>
          <p:nvPr/>
        </p:nvSpPr>
        <p:spPr>
          <a:xfrm>
            <a:off x="914400" y="2926080"/>
            <a:ext cx="10058400" cy="1371600"/>
          </a:xfrm>
          <a:prstGeom prst="rect">
            <a:avLst/>
          </a:prstGeom>
          <a:noFill/>
        </p:spPr>
        <p:txBody>
          <a:bodyPr wrap="square">
            <a:spAutoFit/>
          </a:bodyPr>
          <a:lstStyle/>
          <a:p>
            <a:pPr algn="ctr">
              <a:lnSpc>
                <a:spcPts val="3600"/>
              </a:lnSpc>
              <a:spcAft>
                <a:spcPts val="600"/>
              </a:spcAft>
              <a:defRPr sz="2400" b="1">
                <a:solidFill>
                  <a:srgbClr val="FFFFFF"/>
                </a:solidFill>
                <a:latin typeface="Verdana"/>
              </a:defRPr>
            </a:pPr>
            <a:r>
              <a:t>RESULTS AND PERFORMANCE EVALUATION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6.1 Performance Comparison</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Performance Comparison (SafeClick v1 vs Enhanced):</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Metric              v1 (LLM Only)    Enhanced (Multi-Modal)    Improvement</a:t>
            </a:r>
          </a:p>
          <a:p>
            <a:pPr algn="just">
              <a:lnSpc>
                <a:spcPts val="1500"/>
              </a:lnSpc>
              <a:spcBef>
                <a:spcPts val="400"/>
              </a:spcBef>
              <a:spcAft>
                <a:spcPts val="400"/>
              </a:spcAft>
              <a:defRPr sz="1000" b="0">
                <a:solidFill>
                  <a:srgbClr val="000000"/>
                </a:solidFill>
                <a:latin typeface="Verdana"/>
              </a:defRPr>
            </a:pPr>
            <a:r>
              <a:t>Accuracy            99.4%            99.7%                     +0.3%</a:t>
            </a:r>
          </a:p>
          <a:p>
            <a:pPr algn="just">
              <a:lnSpc>
                <a:spcPts val="1500"/>
              </a:lnSpc>
              <a:spcBef>
                <a:spcPts val="400"/>
              </a:spcBef>
              <a:spcAft>
                <a:spcPts val="400"/>
              </a:spcAft>
              <a:defRPr sz="1000" b="0">
                <a:solidFill>
                  <a:srgbClr val="000000"/>
                </a:solidFill>
                <a:latin typeface="Verdana"/>
              </a:defRPr>
            </a:pPr>
            <a:r>
              <a:t>Precision           99.2%            99.5%                     +0.3%</a:t>
            </a:r>
          </a:p>
          <a:p>
            <a:pPr algn="just">
              <a:lnSpc>
                <a:spcPts val="1500"/>
              </a:lnSpc>
              <a:spcBef>
                <a:spcPts val="400"/>
              </a:spcBef>
              <a:spcAft>
                <a:spcPts val="400"/>
              </a:spcAft>
              <a:defRPr sz="1000" b="0">
                <a:solidFill>
                  <a:srgbClr val="000000"/>
                </a:solidFill>
                <a:latin typeface="Verdana"/>
              </a:defRPr>
            </a:pPr>
            <a:r>
              <a:t>Recall              99.7%            99.8%                     +0.1%</a:t>
            </a:r>
          </a:p>
          <a:p>
            <a:pPr algn="just">
              <a:lnSpc>
                <a:spcPts val="1500"/>
              </a:lnSpc>
              <a:spcBef>
                <a:spcPts val="400"/>
              </a:spcBef>
              <a:spcAft>
                <a:spcPts val="400"/>
              </a:spcAft>
              <a:defRPr sz="1000" b="0">
                <a:solidFill>
                  <a:srgbClr val="000000"/>
                </a:solidFill>
                <a:latin typeface="Verdana"/>
              </a:defRPr>
            </a:pPr>
            <a:r>
              <a:t>F1-Score            99.4%            99.7%                     +0.3%</a:t>
            </a:r>
          </a:p>
          <a:p>
            <a:pPr algn="just">
              <a:lnSpc>
                <a:spcPts val="1500"/>
              </a:lnSpc>
              <a:spcBef>
                <a:spcPts val="400"/>
              </a:spcBef>
              <a:spcAft>
                <a:spcPts val="400"/>
              </a:spcAft>
              <a:defRPr sz="1000" b="0">
                <a:solidFill>
                  <a:srgbClr val="000000"/>
                </a:solidFill>
                <a:latin typeface="Verdana"/>
              </a:defRPr>
            </a:pPr>
            <a:r>
              <a:t>False Positives     4                2                         -50%</a:t>
            </a:r>
          </a:p>
          <a:p>
            <a:pPr algn="just">
              <a:lnSpc>
                <a:spcPts val="1500"/>
              </a:lnSpc>
              <a:spcBef>
                <a:spcPts val="400"/>
              </a:spcBef>
              <a:spcAft>
                <a:spcPts val="400"/>
              </a:spcAft>
              <a:defRPr sz="1000" b="0">
                <a:solidFill>
                  <a:srgbClr val="000000"/>
                </a:solidFill>
                <a:latin typeface="Verdana"/>
              </a:defRPr>
            </a:pPr>
            <a:r>
              <a:t>False Negatives     2                1                         -50%</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The enhanced multi-modal system achieves consistent improvements across all metrics. The most significant improvement is the 50% reduction in both false positives and false negatives, demonstrating that multi-signal analysis provides more reliable verdicts.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The accuracy improvement from 99.4% to 99.7% may appear modest in percentage terms, but in absolute numbers it represents a 50% reduction in misclassifications (from 6 errors to 3 errors out of 1,200 test URLs).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6.2 Processing Time and Cost Analysis</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Processing Time Analysis:</a:t>
            </a:r>
          </a:p>
          <a:p>
            <a:pPr algn="just">
              <a:lnSpc>
                <a:spcPts val="1500"/>
              </a:lnSpc>
              <a:spcBef>
                <a:spcPts val="400"/>
              </a:spcBef>
              <a:spcAft>
                <a:spcPts val="400"/>
              </a:spcAft>
              <a:defRPr sz="1000" b="0">
                <a:solidFill>
                  <a:srgbClr val="000000"/>
                </a:solidFill>
                <a:latin typeface="Verdana"/>
              </a:defRPr>
            </a:pPr>
            <a:r>
              <a:t>Domain Type          v1              Enhanced         Improvement</a:t>
            </a:r>
          </a:p>
          <a:p>
            <a:pPr algn="just">
              <a:lnSpc>
                <a:spcPts val="1500"/>
              </a:lnSpc>
              <a:spcBef>
                <a:spcPts val="400"/>
              </a:spcBef>
              <a:spcAft>
                <a:spcPts val="400"/>
              </a:spcAft>
              <a:defRPr sz="1000" b="0">
                <a:solidFill>
                  <a:srgbClr val="000000"/>
                </a:solidFill>
                <a:latin typeface="Verdana"/>
              </a:defRPr>
            </a:pPr>
            <a:r>
              <a:t>Whitelisted          15-20s          &lt;100ms           99.5% faster</a:t>
            </a:r>
          </a:p>
          <a:p>
            <a:pPr algn="just">
              <a:lnSpc>
                <a:spcPts val="1500"/>
              </a:lnSpc>
              <a:spcBef>
                <a:spcPts val="400"/>
              </a:spcBef>
              <a:spcAft>
                <a:spcPts val="400"/>
              </a:spcAft>
              <a:defRPr sz="1000" b="0">
                <a:solidFill>
                  <a:srgbClr val="000000"/>
                </a:solidFill>
                <a:latin typeface="Verdana"/>
              </a:defRPr>
            </a:pPr>
            <a:r>
              <a:t>Non-Whitelisted      15-20s          15-20s           No change</a:t>
            </a:r>
          </a:p>
          <a:p>
            <a:pPr algn="just">
              <a:lnSpc>
                <a:spcPts val="1500"/>
              </a:lnSpc>
              <a:spcBef>
                <a:spcPts val="400"/>
              </a:spcBef>
              <a:spcAft>
                <a:spcPts val="400"/>
              </a:spcAft>
              <a:defRPr sz="1000" b="0">
                <a:solidFill>
                  <a:srgbClr val="000000"/>
                </a:solidFill>
                <a:latin typeface="Verdana"/>
              </a:defRPr>
            </a:pPr>
            <a:r>
              <a:t>Average (50% WL)     15-20s          7.5-10s          50% faster</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Cost Analysis (per 1,000 scans, 50% whitelisted):</a:t>
            </a:r>
          </a:p>
          <a:p>
            <a:pPr algn="just">
              <a:lnSpc>
                <a:spcPts val="1500"/>
              </a:lnSpc>
              <a:spcBef>
                <a:spcPts val="400"/>
              </a:spcBef>
              <a:spcAft>
                <a:spcPts val="400"/>
              </a:spcAft>
              <a:defRPr sz="1000" b="0">
                <a:solidFill>
                  <a:srgbClr val="000000"/>
                </a:solidFill>
                <a:latin typeface="Verdana"/>
              </a:defRPr>
            </a:pPr>
            <a:r>
              <a:t>Component            v1              Enhanced         Change</a:t>
            </a:r>
          </a:p>
          <a:p>
            <a:pPr algn="just">
              <a:lnSpc>
                <a:spcPts val="1500"/>
              </a:lnSpc>
              <a:spcBef>
                <a:spcPts val="400"/>
              </a:spcBef>
              <a:spcAft>
                <a:spcPts val="400"/>
              </a:spcAft>
              <a:defRPr sz="1000" b="0">
                <a:solidFill>
                  <a:srgbClr val="000000"/>
                </a:solidFill>
                <a:latin typeface="Verdana"/>
              </a:defRPr>
            </a:pPr>
            <a:r>
              <a:t>Lambda               $0.20           $0.20            -</a:t>
            </a:r>
          </a:p>
          <a:p>
            <a:pPr algn="just">
              <a:lnSpc>
                <a:spcPts val="1500"/>
              </a:lnSpc>
              <a:spcBef>
                <a:spcPts val="400"/>
              </a:spcBef>
              <a:spcAft>
                <a:spcPts val="400"/>
              </a:spcAft>
              <a:defRPr sz="1000" b="0">
                <a:solidFill>
                  <a:srgbClr val="000000"/>
                </a:solidFill>
                <a:latin typeface="Verdana"/>
              </a:defRPr>
            </a:pPr>
            <a:r>
              <a:t>Bedrock              $20.00          $10.00           -50%</a:t>
            </a:r>
          </a:p>
          <a:p>
            <a:pPr algn="just">
              <a:lnSpc>
                <a:spcPts val="1500"/>
              </a:lnSpc>
              <a:spcBef>
                <a:spcPts val="400"/>
              </a:spcBef>
              <a:spcAft>
                <a:spcPts val="400"/>
              </a:spcAft>
              <a:defRPr sz="1000" b="0">
                <a:solidFill>
                  <a:srgbClr val="000000"/>
                </a:solidFill>
                <a:latin typeface="Verdana"/>
              </a:defRPr>
            </a:pPr>
            <a:r>
              <a:t>Rekognition          $0.00           $1.00            +$1.00</a:t>
            </a:r>
          </a:p>
          <a:p>
            <a:pPr algn="just">
              <a:lnSpc>
                <a:spcPts val="1500"/>
              </a:lnSpc>
              <a:spcBef>
                <a:spcPts val="400"/>
              </a:spcBef>
              <a:spcAft>
                <a:spcPts val="400"/>
              </a:spcAft>
              <a:defRPr sz="1000" b="0">
                <a:solidFill>
                  <a:srgbClr val="000000"/>
                </a:solidFill>
                <a:latin typeface="Verdana"/>
              </a:defRPr>
            </a:pPr>
            <a:r>
              <a:t>S3/DynamoDB          $0.02           $0.02            -</a:t>
            </a:r>
          </a:p>
          <a:p>
            <a:pPr algn="just">
              <a:lnSpc>
                <a:spcPts val="1500"/>
              </a:lnSpc>
              <a:spcBef>
                <a:spcPts val="400"/>
              </a:spcBef>
              <a:spcAft>
                <a:spcPts val="400"/>
              </a:spcAft>
              <a:defRPr sz="1000" b="0">
                <a:solidFill>
                  <a:srgbClr val="000000"/>
                </a:solidFill>
                <a:latin typeface="Verdana"/>
              </a:defRPr>
            </a:pPr>
            <a:r>
              <a:t>Total                $20.22          $11.22           -44.5%</a:t>
            </a:r>
          </a:p>
          <a:p>
            <a:pPr algn="just">
              <a:lnSpc>
                <a:spcPts val="1500"/>
              </a:lnSpc>
              <a:spcBef>
                <a:spcPts val="400"/>
              </a:spcBef>
              <a:spcAft>
                <a:spcPts val="400"/>
              </a:spcAft>
              <a:defRPr sz="1000" b="0">
                <a:solidFill>
                  <a:srgbClr val="000000"/>
                </a:solidFill>
                <a:latin typeface="Verdana"/>
              </a:defRPr>
            </a:pPr>
            <a:r>
              <a:t>Per Scan             $0.020          $0.011           -45%</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The intelligent whitelisting strategy reduces Bedrock API calls by 50% (for whitelisted domains), saving $10 per 1,000 scans. The addition of Rekognition ($1.00) is more than offset by the Bedrock savings, resulting in a net 44.5% cost reduction.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6.3 Multi-Signal Detection Analysis</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Detection Signal Contributions: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Signal Type              Unique Detections    Contribution</a:t>
            </a:r>
          </a:p>
          <a:p>
            <a:pPr algn="just">
              <a:lnSpc>
                <a:spcPts val="1500"/>
              </a:lnSpc>
              <a:spcBef>
                <a:spcPts val="400"/>
              </a:spcBef>
              <a:spcAft>
                <a:spcPts val="400"/>
              </a:spcAft>
              <a:defRPr sz="1000" b="0">
                <a:solidFill>
                  <a:srgbClr val="000000"/>
                </a:solidFill>
                <a:latin typeface="Verdana"/>
              </a:defRPr>
            </a:pPr>
            <a:r>
              <a:t>LLM Only                 485                  40.4%</a:t>
            </a:r>
          </a:p>
          <a:p>
            <a:pPr algn="just">
              <a:lnSpc>
                <a:spcPts val="1500"/>
              </a:lnSpc>
              <a:spcBef>
                <a:spcPts val="400"/>
              </a:spcBef>
              <a:spcAft>
                <a:spcPts val="400"/>
              </a:spcAft>
              <a:defRPr sz="1000" b="0">
                <a:solidFill>
                  <a:srgbClr val="000000"/>
                </a:solidFill>
                <a:latin typeface="Verdana"/>
              </a:defRPr>
            </a:pPr>
            <a:r>
              <a:t>LLM + Rekognition        112                  9.3%</a:t>
            </a:r>
          </a:p>
          <a:p>
            <a:pPr algn="just">
              <a:lnSpc>
                <a:spcPts val="1500"/>
              </a:lnSpc>
              <a:spcBef>
                <a:spcPts val="400"/>
              </a:spcBef>
              <a:spcAft>
                <a:spcPts val="400"/>
              </a:spcAft>
              <a:defRPr sz="1000" b="0">
                <a:solidFill>
                  <a:srgbClr val="000000"/>
                </a:solidFill>
                <a:latin typeface="Verdana"/>
              </a:defRPr>
            </a:pPr>
            <a:r>
              <a:t>LLM + Domain             98                   8.2%</a:t>
            </a:r>
          </a:p>
          <a:p>
            <a:pPr algn="just">
              <a:lnSpc>
                <a:spcPts val="1500"/>
              </a:lnSpc>
              <a:spcBef>
                <a:spcPts val="400"/>
              </a:spcBef>
              <a:spcAft>
                <a:spcPts val="400"/>
              </a:spcAft>
              <a:defRPr sz="1000" b="0">
                <a:solidFill>
                  <a:srgbClr val="000000"/>
                </a:solidFill>
                <a:latin typeface="Verdana"/>
              </a:defRPr>
            </a:pPr>
            <a:r>
              <a:t>All Three Signals        505                  42.1%</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Key Findings:</a:t>
            </a:r>
          </a:p>
          <a:p>
            <a:pPr algn="just">
              <a:lnSpc>
                <a:spcPts val="1500"/>
              </a:lnSpc>
              <a:spcBef>
                <a:spcPts val="400"/>
              </a:spcBef>
              <a:spcAft>
                <a:spcPts val="400"/>
              </a:spcAft>
              <a:defRPr sz="1000" b="0">
                <a:solidFill>
                  <a:srgbClr val="000000"/>
                </a:solidFill>
                <a:latin typeface="Verdana"/>
              </a:defRPr>
            </a:pPr>
            <a:r>
              <a:t>- 42.1% of correct detections required all three signals working together</a:t>
            </a:r>
          </a:p>
          <a:p>
            <a:pPr algn="just">
              <a:lnSpc>
                <a:spcPts val="1500"/>
              </a:lnSpc>
              <a:spcBef>
                <a:spcPts val="400"/>
              </a:spcBef>
              <a:spcAft>
                <a:spcPts val="400"/>
              </a:spcAft>
              <a:defRPr sz="1000" b="0">
                <a:solidFill>
                  <a:srgbClr val="000000"/>
                </a:solidFill>
                <a:latin typeface="Verdana"/>
              </a:defRPr>
            </a:pPr>
            <a:r>
              <a:t>- 17.5% of detections would have been missed without computer vision or domain analysis</a:t>
            </a:r>
          </a:p>
          <a:p>
            <a:pPr algn="just">
              <a:lnSpc>
                <a:spcPts val="1500"/>
              </a:lnSpc>
              <a:spcBef>
                <a:spcPts val="400"/>
              </a:spcBef>
              <a:spcAft>
                <a:spcPts val="400"/>
              </a:spcAft>
              <a:defRPr sz="1000" b="0">
                <a:solidFill>
                  <a:srgbClr val="000000"/>
                </a:solidFill>
                <a:latin typeface="Verdana"/>
              </a:defRPr>
            </a:pPr>
            <a:r>
              <a:t>- Multi-signal approach reduced false positives by 50%</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Whitelist Performance:</a:t>
            </a:r>
          </a:p>
          <a:p>
            <a:pPr algn="just">
              <a:lnSpc>
                <a:spcPts val="1500"/>
              </a:lnSpc>
              <a:spcBef>
                <a:spcPts val="400"/>
              </a:spcBef>
              <a:spcAft>
                <a:spcPts val="400"/>
              </a:spcAft>
              <a:defRPr sz="1000" b="0">
                <a:solidFill>
                  <a:srgbClr val="000000"/>
                </a:solidFill>
                <a:latin typeface="Verdana"/>
              </a:defRPr>
            </a:pPr>
            <a:r>
              <a:t>Metric                          Value</a:t>
            </a:r>
          </a:p>
          <a:p>
            <a:pPr algn="just">
              <a:lnSpc>
                <a:spcPts val="1500"/>
              </a:lnSpc>
              <a:spcBef>
                <a:spcPts val="400"/>
              </a:spcBef>
              <a:spcAft>
                <a:spcPts val="400"/>
              </a:spcAft>
              <a:defRPr sz="1000" b="0">
                <a:solidFill>
                  <a:srgbClr val="000000"/>
                </a:solidFill>
                <a:latin typeface="Verdana"/>
              </a:defRPr>
            </a:pPr>
            <a:r>
              <a:t>Whitelist Size                  50+ domains</a:t>
            </a:r>
          </a:p>
          <a:p>
            <a:pPr algn="just">
              <a:lnSpc>
                <a:spcPts val="1500"/>
              </a:lnSpc>
              <a:spcBef>
                <a:spcPts val="400"/>
              </a:spcBef>
              <a:spcAft>
                <a:spcPts val="400"/>
              </a:spcAft>
              <a:defRPr sz="1000" b="0">
                <a:solidFill>
                  <a:srgbClr val="000000"/>
                </a:solidFill>
                <a:latin typeface="Verdana"/>
              </a:defRPr>
            </a:pPr>
            <a:r>
              <a:t>Hit Rate (test dataset)         41.7% (500/1,200)</a:t>
            </a:r>
          </a:p>
          <a:p>
            <a:pPr algn="just">
              <a:lnSpc>
                <a:spcPts val="1500"/>
              </a:lnSpc>
              <a:spcBef>
                <a:spcPts val="400"/>
              </a:spcBef>
              <a:spcAft>
                <a:spcPts val="400"/>
              </a:spcAft>
              <a:defRPr sz="1000" b="0">
                <a:solidFill>
                  <a:srgbClr val="000000"/>
                </a:solidFill>
                <a:latin typeface="Verdana"/>
              </a:defRPr>
            </a:pPr>
            <a:r>
              <a:t>Average Response Time           78ms</a:t>
            </a:r>
          </a:p>
          <a:p>
            <a:pPr algn="just">
              <a:lnSpc>
                <a:spcPts val="1500"/>
              </a:lnSpc>
              <a:spcBef>
                <a:spcPts val="400"/>
              </a:spcBef>
              <a:spcAft>
                <a:spcPts val="400"/>
              </a:spcAft>
              <a:defRPr sz="1000" b="0">
                <a:solidFill>
                  <a:srgbClr val="000000"/>
                </a:solidFill>
                <a:latin typeface="Verdana"/>
              </a:defRPr>
            </a:pPr>
            <a:r>
              <a:t>Cost Savings per Scan           $0.018</a:t>
            </a:r>
          </a:p>
          <a:p>
            <a:pPr algn="just">
              <a:lnSpc>
                <a:spcPts val="1500"/>
              </a:lnSpc>
              <a:spcBef>
                <a:spcPts val="400"/>
              </a:spcBef>
              <a:spcAft>
                <a:spcPts val="400"/>
              </a:spcAft>
              <a:defRPr sz="1000" b="0">
                <a:solidFill>
                  <a:srgbClr val="000000"/>
                </a:solidFill>
                <a:latin typeface="Verdana"/>
              </a:defRPr>
            </a:pPr>
            <a:r>
              <a:t>Total Cost Savings (500 scans)  $9.00</a:t>
            </a:r>
          </a:p>
          <a:p>
            <a:pPr algn="just">
              <a:lnSpc>
                <a:spcPts val="1500"/>
              </a:lnSpc>
              <a:spcBef>
                <a:spcPts val="400"/>
              </a:spcBef>
              <a:spcAft>
                <a:spcPts val="400"/>
              </a:spcAft>
              <a:defRPr sz="1000" b="0">
                <a:solidFill>
                  <a:srgbClr val="000000"/>
                </a:solidFill>
                <a:latin typeface="Verdana"/>
              </a:defRPr>
            </a:pPr>
            <a:r>
              <a:t>False Positives from Whitelist  0</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The whitelist processed 41.7% of scans in &lt;100ms with 100% accuracy.</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6.4 Comparison with State-of-the-Art</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Comparison with State-of-the-Art Systems: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System                    Accuracy    Real-Time    Cost</a:t>
            </a:r>
          </a:p>
          <a:p>
            <a:pPr algn="just">
              <a:lnSpc>
                <a:spcPts val="1500"/>
              </a:lnSpc>
              <a:spcBef>
                <a:spcPts val="400"/>
              </a:spcBef>
              <a:spcAft>
                <a:spcPts val="400"/>
              </a:spcAft>
              <a:defRPr sz="1000" b="0">
                <a:solidFill>
                  <a:srgbClr val="000000"/>
                </a:solidFill>
                <a:latin typeface="Verdana"/>
              </a:defRPr>
            </a:pPr>
            <a:r>
              <a:t>ChatPhishDetector         98.9%       Yes          Medium</a:t>
            </a:r>
          </a:p>
          <a:p>
            <a:pPr algn="just">
              <a:lnSpc>
                <a:spcPts val="1500"/>
              </a:lnSpc>
              <a:spcBef>
                <a:spcPts val="400"/>
              </a:spcBef>
              <a:spcAft>
                <a:spcPts val="400"/>
              </a:spcAft>
              <a:defRPr sz="1000" b="0">
                <a:solidFill>
                  <a:srgbClr val="000000"/>
                </a:solidFill>
                <a:latin typeface="Verdana"/>
              </a:defRPr>
            </a:pPr>
            <a:r>
              <a:t>Multimodal LLM (Lee)      99.1%       No           High</a:t>
            </a:r>
          </a:p>
          <a:p>
            <a:pPr algn="just">
              <a:lnSpc>
                <a:spcPts val="1500"/>
              </a:lnSpc>
              <a:spcBef>
                <a:spcPts val="400"/>
              </a:spcBef>
              <a:spcAft>
                <a:spcPts val="400"/>
              </a:spcAft>
              <a:defRPr sz="1000" b="0">
                <a:solidFill>
                  <a:srgbClr val="000000"/>
                </a:solidFill>
                <a:latin typeface="Verdana"/>
              </a:defRPr>
            </a:pPr>
            <a:r>
              <a:t>DeBERTa (SecureNet)       98.5%       Yes          Low</a:t>
            </a:r>
          </a:p>
          <a:p>
            <a:pPr algn="just">
              <a:lnSpc>
                <a:spcPts val="1500"/>
              </a:lnSpc>
              <a:spcBef>
                <a:spcPts val="400"/>
              </a:spcBef>
              <a:spcAft>
                <a:spcPts val="400"/>
              </a:spcAft>
              <a:defRPr sz="1000" b="0">
                <a:solidFill>
                  <a:srgbClr val="000000"/>
                </a:solidFill>
                <a:latin typeface="Verdana"/>
              </a:defRPr>
            </a:pPr>
            <a:r>
              <a:t>Traditional ML (Hybrid)   95-97%      Yes          Low</a:t>
            </a:r>
          </a:p>
          <a:p>
            <a:pPr algn="just">
              <a:lnSpc>
                <a:spcPts val="1500"/>
              </a:lnSpc>
              <a:spcBef>
                <a:spcPts val="400"/>
              </a:spcBef>
              <a:spcAft>
                <a:spcPts val="400"/>
              </a:spcAft>
              <a:defRPr sz="1000" b="0">
                <a:solidFill>
                  <a:srgbClr val="000000"/>
                </a:solidFill>
                <a:latin typeface="Verdana"/>
              </a:defRPr>
            </a:pPr>
            <a:r>
              <a:t>SafeClick v1              99.4%       Yes          Medium</a:t>
            </a:r>
          </a:p>
          <a:p>
            <a:pPr algn="just">
              <a:lnSpc>
                <a:spcPts val="1500"/>
              </a:lnSpc>
              <a:spcBef>
                <a:spcPts val="400"/>
              </a:spcBef>
              <a:spcAft>
                <a:spcPts val="400"/>
              </a:spcAft>
              <a:defRPr sz="1000" b="0">
                <a:solidFill>
                  <a:srgbClr val="000000"/>
                </a:solidFill>
                <a:latin typeface="Verdana"/>
              </a:defRPr>
            </a:pPr>
            <a:r>
              <a:t>SafeClick Enhanced        99.7%       Yes          Low</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Key Differentiators of SafeClick Enhanced:</a:t>
            </a:r>
          </a:p>
          <a:p>
            <a:pPr algn="just">
              <a:lnSpc>
                <a:spcPts val="1500"/>
              </a:lnSpc>
              <a:spcBef>
                <a:spcPts val="400"/>
              </a:spcBef>
              <a:spcAft>
                <a:spcPts val="400"/>
              </a:spcAft>
              <a:defRPr sz="1000" b="0">
                <a:solidFill>
                  <a:srgbClr val="000000"/>
                </a:solidFill>
                <a:latin typeface="Verdana"/>
              </a:defRPr>
            </a:pPr>
            <a:r>
              <a:t>- Only production-ready multi-modal system with computer vision integration</a:t>
            </a:r>
          </a:p>
          <a:p>
            <a:pPr algn="just">
              <a:lnSpc>
                <a:spcPts val="1500"/>
              </a:lnSpc>
              <a:spcBef>
                <a:spcPts val="400"/>
              </a:spcBef>
              <a:spcAft>
                <a:spcPts val="400"/>
              </a:spcAft>
              <a:defRPr sz="1000" b="0">
                <a:solidFill>
                  <a:srgbClr val="000000"/>
                </a:solidFill>
                <a:latin typeface="Verdana"/>
              </a:defRPr>
            </a:pPr>
            <a:r>
              <a:t>- Lowest cost among LLM-based approaches due to intelligent whitelisting</a:t>
            </a:r>
          </a:p>
          <a:p>
            <a:pPr algn="just">
              <a:lnSpc>
                <a:spcPts val="1500"/>
              </a:lnSpc>
              <a:spcBef>
                <a:spcPts val="400"/>
              </a:spcBef>
              <a:spcAft>
                <a:spcPts val="400"/>
              </a:spcAft>
              <a:defRPr sz="1000" b="0">
                <a:solidFill>
                  <a:srgbClr val="000000"/>
                </a:solidFill>
                <a:latin typeface="Verdana"/>
              </a:defRPr>
            </a:pPr>
            <a:r>
              <a:t>- Highest accuracy while maintaining real-time performance</a:t>
            </a:r>
          </a:p>
          <a:p>
            <a:pPr algn="just">
              <a:lnSpc>
                <a:spcPts val="1500"/>
              </a:lnSpc>
              <a:spcBef>
                <a:spcPts val="400"/>
              </a:spcBef>
              <a:spcAft>
                <a:spcPts val="400"/>
              </a:spcAft>
              <a:defRPr sz="1000" b="0">
                <a:solidFill>
                  <a:srgbClr val="000000"/>
                </a:solidFill>
                <a:latin typeface="Verdana"/>
              </a:defRPr>
            </a:pPr>
            <a:r>
              <a:t>- Cloud-native architecture enabling immediate deployment</a:t>
            </a:r>
          </a:p>
          <a:p>
            <a:pPr algn="just">
              <a:lnSpc>
                <a:spcPts val="1500"/>
              </a:lnSpc>
              <a:spcBef>
                <a:spcPts val="400"/>
              </a:spcBef>
              <a:spcAft>
                <a:spcPts val="400"/>
              </a:spcAft>
              <a:defRPr sz="1000" b="0">
                <a:solidFill>
                  <a:srgbClr val="000000"/>
                </a:solidFill>
                <a:latin typeface="Verdana"/>
              </a:defRPr>
            </a:pPr>
            <a:r>
              <a:t>- No training data required - works on previously unseen URLs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Error Analysis:</a:t>
            </a:r>
          </a:p>
          <a:p>
            <a:pPr algn="just">
              <a:lnSpc>
                <a:spcPts val="1500"/>
              </a:lnSpc>
              <a:spcBef>
                <a:spcPts val="400"/>
              </a:spcBef>
              <a:spcAft>
                <a:spcPts val="400"/>
              </a:spcAft>
              <a:defRPr sz="1000" b="0">
                <a:solidFill>
                  <a:srgbClr val="000000"/>
                </a:solidFill>
                <a:latin typeface="Verdana"/>
              </a:defRPr>
            </a:pPr>
            <a:r>
              <a:t>- 2 False Positives: Regional bank with unusual TLD (.credit), new e-commerce with generic product images flagged by Rekognition</a:t>
            </a:r>
          </a:p>
          <a:p>
            <a:pPr algn="just">
              <a:lnSpc>
                <a:spcPts val="1500"/>
              </a:lnSpc>
              <a:spcBef>
                <a:spcPts val="400"/>
              </a:spcBef>
              <a:spcAft>
                <a:spcPts val="400"/>
              </a:spcAft>
              <a:defRPr sz="1000" b="0">
                <a:solidFill>
                  <a:srgbClr val="000000"/>
                </a:solidFill>
                <a:latin typeface="Verdana"/>
              </a:defRPr>
            </a:pPr>
            <a:r>
              <a:t>- 1 False Negative: Sophisticated phishing with stolen SSL certificate, professional design, and minimal text content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6994"/>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058400" cy="914400"/>
          </a:xfrm>
          <a:prstGeom prst="rect">
            <a:avLst/>
          </a:prstGeom>
          <a:noFill/>
        </p:spPr>
        <p:txBody>
          <a:bodyPr wrap="square">
            <a:spAutoFit/>
          </a:bodyPr>
          <a:lstStyle/>
          <a:p>
            <a:pPr algn="ctr">
              <a:lnSpc>
                <a:spcPts val="2400"/>
              </a:lnSpc>
              <a:spcAft>
                <a:spcPts val="600"/>
              </a:spcAft>
              <a:defRPr sz="1600" b="1">
                <a:solidFill>
                  <a:srgbClr val="FFFFFF"/>
                </a:solidFill>
                <a:latin typeface="Verdana"/>
              </a:defRPr>
            </a:pPr>
            <a:r>
              <a:t>CHAPTER 7</a:t>
            </a:r>
          </a:p>
        </p:txBody>
      </p:sp>
      <p:sp>
        <p:nvSpPr>
          <p:cNvPr id="3" name="TextBox 2"/>
          <p:cNvSpPr txBox="1"/>
          <p:nvPr/>
        </p:nvSpPr>
        <p:spPr>
          <a:xfrm>
            <a:off x="914400" y="2926080"/>
            <a:ext cx="10058400" cy="1371600"/>
          </a:xfrm>
          <a:prstGeom prst="rect">
            <a:avLst/>
          </a:prstGeom>
          <a:noFill/>
        </p:spPr>
        <p:txBody>
          <a:bodyPr wrap="square">
            <a:spAutoFit/>
          </a:bodyPr>
          <a:lstStyle/>
          <a:p>
            <a:pPr algn="ctr">
              <a:lnSpc>
                <a:spcPts val="3600"/>
              </a:lnSpc>
              <a:spcAft>
                <a:spcPts val="600"/>
              </a:spcAft>
              <a:defRPr sz="2400" b="1">
                <a:solidFill>
                  <a:srgbClr val="FFFFFF"/>
                </a:solidFill>
                <a:latin typeface="Verdana"/>
              </a:defRPr>
            </a:pPr>
            <a:r>
              <a:t>CONCLUSION AND FUTURE WORK</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7.1 Conclusion</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This project presented SafeClick Enhanced, an advanced cloud-native phishing detection system that integrates Large Language Models, computer vision, and domain intelligence for comprehensive threat analysis. By combining Amazon Bedrock's Nova Premier, Amazon Rekognition, and heuristic domain analysis in a serverless AWS architecture, the system achieves 99.7% accuracy while maintaining real-time performance and cost efficiency.</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Key Contributions: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1. Multi-Modal Detection Architecture: Integration of three complementary detection modalities provides robust protection against diverse phishing strategies, achieving 17.5% more detections than single-modal systems and reducing false positives by 50%.</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2. Intelligent Resource Optimization: Domain whitelisting simultaneously improves user experience (sub-100ms for trusted domains) and reduces costs by 45%.</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3. Production-Ready Implementation: Complete deployable solution with serverless architecture, automatic scaling, cost-predictable operation ($0.011/scan), and zero infrastructure management overhead.</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4. Enhanced Detection Capabilities: Excels at detecting visual brand impersonation, typosquatting, suspicious TLD patterns, hidden text via OCR, and multi-layered social engineering attacks.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7.2 Future Work</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Advanced Domain Intelligence:</a:t>
            </a:r>
          </a:p>
          <a:p>
            <a:pPr algn="just">
              <a:lnSpc>
                <a:spcPts val="1500"/>
              </a:lnSpc>
              <a:spcBef>
                <a:spcPts val="400"/>
              </a:spcBef>
              <a:spcAft>
                <a:spcPts val="400"/>
              </a:spcAft>
              <a:defRPr sz="1000" b="0">
                <a:solidFill>
                  <a:srgbClr val="000000"/>
                </a:solidFill>
                <a:latin typeface="Verdana"/>
              </a:defRPr>
            </a:pPr>
            <a:r>
              <a:t>- Integration with WHOIS APIs for actual domain age verification</a:t>
            </a:r>
          </a:p>
          <a:p>
            <a:pPr algn="just">
              <a:lnSpc>
                <a:spcPts val="1500"/>
              </a:lnSpc>
              <a:spcBef>
                <a:spcPts val="400"/>
              </a:spcBef>
              <a:spcAft>
                <a:spcPts val="400"/>
              </a:spcAft>
              <a:defRPr sz="1000" b="0">
                <a:solidFill>
                  <a:srgbClr val="000000"/>
                </a:solidFill>
                <a:latin typeface="Verdana"/>
              </a:defRPr>
            </a:pPr>
            <a:r>
              <a:t>- SSL certificate validation and issuer verification</a:t>
            </a:r>
          </a:p>
          <a:p>
            <a:pPr algn="just">
              <a:lnSpc>
                <a:spcPts val="1500"/>
              </a:lnSpc>
              <a:spcBef>
                <a:spcPts val="400"/>
              </a:spcBef>
              <a:spcAft>
                <a:spcPts val="400"/>
              </a:spcAft>
              <a:defRPr sz="1000" b="0">
                <a:solidFill>
                  <a:srgbClr val="000000"/>
                </a:solidFill>
                <a:latin typeface="Verdana"/>
              </a:defRPr>
            </a:pPr>
            <a:r>
              <a:t>- DNS record analysis (MX, SPF, DMARC)</a:t>
            </a:r>
          </a:p>
          <a:p>
            <a:pPr algn="just">
              <a:lnSpc>
                <a:spcPts val="1500"/>
              </a:lnSpc>
              <a:spcBef>
                <a:spcPts val="400"/>
              </a:spcBef>
              <a:spcAft>
                <a:spcPts val="400"/>
              </a:spcAft>
              <a:defRPr sz="1000" b="0">
                <a:solidFill>
                  <a:srgbClr val="000000"/>
                </a:solidFill>
                <a:latin typeface="Verdana"/>
              </a:defRPr>
            </a:pPr>
            <a:r>
              <a:t>- Domain reputation services (VirusTotal, URLhaus)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Enhanced Computer Vision:</a:t>
            </a:r>
          </a:p>
          <a:p>
            <a:pPr algn="just">
              <a:lnSpc>
                <a:spcPts val="1500"/>
              </a:lnSpc>
              <a:spcBef>
                <a:spcPts val="400"/>
              </a:spcBef>
              <a:spcAft>
                <a:spcPts val="400"/>
              </a:spcAft>
              <a:defRPr sz="1000" b="0">
                <a:solidFill>
                  <a:srgbClr val="000000"/>
                </a:solidFill>
                <a:latin typeface="Verdana"/>
              </a:defRPr>
            </a:pPr>
            <a:r>
              <a:t>- Custom logo detection models trained on phishing datasets</a:t>
            </a:r>
          </a:p>
          <a:p>
            <a:pPr algn="just">
              <a:lnSpc>
                <a:spcPts val="1500"/>
              </a:lnSpc>
              <a:spcBef>
                <a:spcPts val="400"/>
              </a:spcBef>
              <a:spcAft>
                <a:spcPts val="400"/>
              </a:spcAft>
              <a:defRPr sz="1000" b="0">
                <a:solidFill>
                  <a:srgbClr val="000000"/>
                </a:solidFill>
                <a:latin typeface="Verdana"/>
              </a:defRPr>
            </a:pPr>
            <a:r>
              <a:t>- Layout similarity analysis comparing to known legitimate sites</a:t>
            </a:r>
          </a:p>
          <a:p>
            <a:pPr algn="just">
              <a:lnSpc>
                <a:spcPts val="1500"/>
              </a:lnSpc>
              <a:spcBef>
                <a:spcPts val="400"/>
              </a:spcBef>
              <a:spcAft>
                <a:spcPts val="400"/>
              </a:spcAft>
              <a:defRPr sz="1000" b="0">
                <a:solidFill>
                  <a:srgbClr val="000000"/>
                </a:solidFill>
                <a:latin typeface="Verdana"/>
              </a:defRPr>
            </a:pPr>
            <a:r>
              <a:t>- Color scheme and typography analysis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Machine Learning Integration:</a:t>
            </a:r>
          </a:p>
          <a:p>
            <a:pPr algn="just">
              <a:lnSpc>
                <a:spcPts val="1500"/>
              </a:lnSpc>
              <a:spcBef>
                <a:spcPts val="400"/>
              </a:spcBef>
              <a:spcAft>
                <a:spcPts val="400"/>
              </a:spcAft>
              <a:defRPr sz="1000" b="0">
                <a:solidFill>
                  <a:srgbClr val="000000"/>
                </a:solidFill>
                <a:latin typeface="Verdana"/>
              </a:defRPr>
            </a:pPr>
            <a:r>
              <a:t>- Custom ML models for domain pattern recognition</a:t>
            </a:r>
          </a:p>
          <a:p>
            <a:pPr algn="just">
              <a:lnSpc>
                <a:spcPts val="1500"/>
              </a:lnSpc>
              <a:spcBef>
                <a:spcPts val="400"/>
              </a:spcBef>
              <a:spcAft>
                <a:spcPts val="400"/>
              </a:spcAft>
              <a:defRPr sz="1000" b="0">
                <a:solidFill>
                  <a:srgbClr val="000000"/>
                </a:solidFill>
                <a:latin typeface="Verdana"/>
              </a:defRPr>
            </a:pPr>
            <a:r>
              <a:t>- Anomaly detection for unusual URL structures</a:t>
            </a:r>
          </a:p>
          <a:p>
            <a:pPr algn="just">
              <a:lnSpc>
                <a:spcPts val="1500"/>
              </a:lnSpc>
              <a:spcBef>
                <a:spcPts val="400"/>
              </a:spcBef>
              <a:spcAft>
                <a:spcPts val="400"/>
              </a:spcAft>
              <a:defRPr sz="1000" b="0">
                <a:solidFill>
                  <a:srgbClr val="000000"/>
                </a:solidFill>
                <a:latin typeface="Verdana"/>
              </a:defRPr>
            </a:pPr>
            <a:r>
              <a:t>- Behavioral analysis of website interactions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Real-Time Threat Intelligence:</a:t>
            </a:r>
          </a:p>
          <a:p>
            <a:pPr algn="just">
              <a:lnSpc>
                <a:spcPts val="1500"/>
              </a:lnSpc>
              <a:spcBef>
                <a:spcPts val="400"/>
              </a:spcBef>
              <a:spcAft>
                <a:spcPts val="400"/>
              </a:spcAft>
              <a:defRPr sz="1000" b="0">
                <a:solidFill>
                  <a:srgbClr val="000000"/>
                </a:solidFill>
                <a:latin typeface="Verdana"/>
              </a:defRPr>
            </a:pPr>
            <a:r>
              <a:t>- Integration with threat feeds (PhishTank, OpenPhish)</a:t>
            </a:r>
          </a:p>
          <a:p>
            <a:pPr algn="just">
              <a:lnSpc>
                <a:spcPts val="1500"/>
              </a:lnSpc>
              <a:spcBef>
                <a:spcPts val="400"/>
              </a:spcBef>
              <a:spcAft>
                <a:spcPts val="400"/>
              </a:spcAft>
              <a:defRPr sz="1000" b="0">
                <a:solidFill>
                  <a:srgbClr val="000000"/>
                </a:solidFill>
                <a:latin typeface="Verdana"/>
              </a:defRPr>
            </a:pPr>
            <a:r>
              <a:t>- Collaborative filtering across user reports</a:t>
            </a:r>
          </a:p>
          <a:p>
            <a:pPr algn="just">
              <a:lnSpc>
                <a:spcPts val="1500"/>
              </a:lnSpc>
              <a:spcBef>
                <a:spcPts val="400"/>
              </a:spcBef>
              <a:spcAft>
                <a:spcPts val="400"/>
              </a:spcAft>
              <a:defRPr sz="1000" b="0">
                <a:solidFill>
                  <a:srgbClr val="000000"/>
                </a:solidFill>
                <a:latin typeface="Verdana"/>
              </a:defRPr>
            </a:pPr>
            <a:r>
              <a:t>- Automated whitelist/blacklist updates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Extended Coverage:</a:t>
            </a:r>
          </a:p>
          <a:p>
            <a:pPr algn="just">
              <a:lnSpc>
                <a:spcPts val="1500"/>
              </a:lnSpc>
              <a:spcBef>
                <a:spcPts val="400"/>
              </a:spcBef>
              <a:spcAft>
                <a:spcPts val="400"/>
              </a:spcAft>
              <a:defRPr sz="1000" b="0">
                <a:solidFill>
                  <a:srgbClr val="000000"/>
                </a:solidFill>
                <a:latin typeface="Verdana"/>
              </a:defRPr>
            </a:pPr>
            <a:r>
              <a:t>- Mobile app phishing detection</a:t>
            </a:r>
          </a:p>
          <a:p>
            <a:pPr algn="just">
              <a:lnSpc>
                <a:spcPts val="1500"/>
              </a:lnSpc>
              <a:spcBef>
                <a:spcPts val="400"/>
              </a:spcBef>
              <a:spcAft>
                <a:spcPts val="400"/>
              </a:spcAft>
              <a:defRPr sz="1000" b="0">
                <a:solidFill>
                  <a:srgbClr val="000000"/>
                </a:solidFill>
                <a:latin typeface="Verdana"/>
              </a:defRPr>
            </a:pPr>
            <a:r>
              <a:t>- Email link analysis and QR code phishing detection</a:t>
            </a:r>
          </a:p>
          <a:p>
            <a:pPr algn="just">
              <a:lnSpc>
                <a:spcPts val="1500"/>
              </a:lnSpc>
              <a:spcBef>
                <a:spcPts val="400"/>
              </a:spcBef>
              <a:spcAft>
                <a:spcPts val="400"/>
              </a:spcAft>
              <a:defRPr sz="1000" b="0">
                <a:solidFill>
                  <a:srgbClr val="000000"/>
                </a:solidFill>
                <a:latin typeface="Verdana"/>
              </a:defRPr>
            </a:pPr>
            <a:r>
              <a:t>- Social media link scanning</a:t>
            </a:r>
          </a:p>
          <a:p>
            <a:pPr algn="just">
              <a:lnSpc>
                <a:spcPts val="1500"/>
              </a:lnSpc>
              <a:spcBef>
                <a:spcPts val="400"/>
              </a:spcBef>
              <a:spcAft>
                <a:spcPts val="400"/>
              </a:spcAft>
              <a:defRPr sz="1000" b="0">
                <a:solidFill>
                  <a:srgbClr val="000000"/>
                </a:solidFill>
                <a:latin typeface="Verdana"/>
              </a:defRPr>
            </a:pPr>
            <a:r>
              <a:t>- Browser extension for real-time protection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06994"/>
        </a:solidFill>
        <a:effectLst/>
      </p:bgPr>
    </p:bg>
    <p:spTree>
      <p:nvGrpSpPr>
        <p:cNvPr id="1" name=""/>
        <p:cNvGrpSpPr/>
        <p:nvPr/>
      </p:nvGrpSpPr>
      <p:grpSpPr>
        <a:xfrm>
          <a:off x="0" y="0"/>
          <a:ext cx="0" cy="0"/>
          <a:chOff x="0" y="0"/>
          <a:chExt cx="0" cy="0"/>
        </a:xfrm>
      </p:grpSpPr>
      <p:sp>
        <p:nvSpPr>
          <p:cNvPr id="2" name="TextBox 1"/>
          <p:cNvSpPr txBox="1"/>
          <p:nvPr/>
        </p:nvSpPr>
        <p:spPr>
          <a:xfrm>
            <a:off x="914400" y="2926080"/>
            <a:ext cx="10058400" cy="1371600"/>
          </a:xfrm>
          <a:prstGeom prst="rect">
            <a:avLst/>
          </a:prstGeom>
          <a:noFill/>
        </p:spPr>
        <p:txBody>
          <a:bodyPr wrap="square">
            <a:spAutoFit/>
          </a:bodyPr>
          <a:lstStyle/>
          <a:p>
            <a:pPr algn="ctr">
              <a:lnSpc>
                <a:spcPts val="3600"/>
              </a:lnSpc>
              <a:spcAft>
                <a:spcPts val="600"/>
              </a:spcAft>
              <a:defRPr sz="2400" b="1">
                <a:solidFill>
                  <a:srgbClr val="FFFFFF"/>
                </a:solidFill>
                <a:latin typeface="Verdana"/>
              </a:defRPr>
            </a:pPr>
            <a:r>
              <a:t>REFERENCES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References</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[1] T. Koide, H. Nakano, and D. Chiba, "ChatPhishDetector: Detecting Phishing Sites Using Large Language Models," IEEE Access, vol. 12, pp. 145173-145185, 2024.</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[2] T. Koide, N. Fukushi, H. Nakano, and D. Chiba, "Detecting Phishing Sites Using ChatGPT," arXiv preprint arXiv:2306.05816, 2023.</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[3] J. Lee, "Multimodal Large Language Models for Phishing Webpage Detection," arXiv preprint arXiv:2408.05941, 2024.</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[4] F. Ji and D. Kim, "How Can We Effectively Use Large Language Models for Phishing Detection?," arXiv preprint arXiv:2511.09606, 2025.</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[5] J. L. Wilk-Jakubowski, M. Nowak, and A. Pawlak, "Machine Learning and Neural Networks for Phishing Detection: A Structured Review," Electronics, vol. 14, no. 18, p. 3744, 2025.</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[6] S. Mahendru and T. Pandit, "SecureNet: A Comparative Study of DeBERTa and Large Language Models for Phishing Detection," arXiv preprint arXiv:2406.06663, 2024.</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[7] A. Bhargude, P. Kulkarni, and S. Patil, "Adaptive Linguistic Prompting for Enhanced Phishing Webpage Detection Using Multimodal LLMs," arXiv preprint arXiv:2507.13357, 2025.</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References (Continued)</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[8] M. A. Uddin, "An Explainable Transformer-Based Model for Phishing Detection," SSRN Electronic Journal, 2025.</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[9] S. Tarapiah, H. Al-Shannaq, and R. Al-Duwairi, "Evaluating the Effectiveness of Large Language Models Versus Machine Learning in Phishing Detection," Algorithms, vol. 18, no. 10, p. 599, 2025.</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[10] P. Maturure, A. Ali, and A. Gegov, "Hybrid Machine Learning Model for Phishing Detection," in Proc. 2024 IEEE 12th International Conference on Intelligent Systems (IS), 2024, pp. 1-7.</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[11] Y. Xu, Z. Cai, D. Wang, and S. Jiang, "A Phishing Website Detection and Recognition Method Based on Naive Bayes," in 2022 IEEE 6th ITOEC, 2022, pp. 1557-1562.</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[12] M. H. Alkawaz et al., "A Comprehensive Survey on Identification and Analysis of Phishing Website Based on Machine Learning Methods," in Proc. 2021 IEEE 11th ISCAIE, 2021, pp. 82-87.</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[13] R. Zieni, L. Massari, and M. C. Calzarossa, "Phishing or Not Phishing? A Survey on the Detection of Phishing Websites," IEEE Access, vol. 11, pp. 18499-18519, 2023.</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[14] S. Marchal et al., "PhishStorm: Detecting Phishing With Streaming Analytics," IEEE Trans. Network and Service Management, vol. 11, no. 4, pp. 458-471, 2014.</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[15] C. Opara, Y. Chen, and B. Wei, "Look Before You Leap: Detecting Phishing Web Pages by Exploiting Raw URL and HTML Characteristics," Expert Systems with Applications, vol. 236, 2024.</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06994"/>
        </a:solidFill>
        <a:effectLst/>
      </p:bgPr>
    </p:bg>
    <p:spTree>
      <p:nvGrpSpPr>
        <p:cNvPr id="1" name=""/>
        <p:cNvGrpSpPr/>
        <p:nvPr/>
      </p:nvGrpSpPr>
      <p:grpSpPr>
        <a:xfrm>
          <a:off x="0" y="0"/>
          <a:ext cx="0" cy="0"/>
          <a:chOff x="0" y="0"/>
          <a:chExt cx="0" cy="0"/>
        </a:xfrm>
      </p:grpSpPr>
      <p:sp>
        <p:nvSpPr>
          <p:cNvPr id="2" name="TextBox 1"/>
          <p:cNvSpPr txBox="1"/>
          <p:nvPr/>
        </p:nvSpPr>
        <p:spPr>
          <a:xfrm>
            <a:off x="914400" y="2926080"/>
            <a:ext cx="10058400" cy="1371600"/>
          </a:xfrm>
          <a:prstGeom prst="rect">
            <a:avLst/>
          </a:prstGeom>
          <a:noFill/>
        </p:spPr>
        <p:txBody>
          <a:bodyPr wrap="square">
            <a:spAutoFit/>
          </a:bodyPr>
          <a:lstStyle/>
          <a:p>
            <a:pPr algn="ctr">
              <a:lnSpc>
                <a:spcPts val="3600"/>
              </a:lnSpc>
              <a:spcAft>
                <a:spcPts val="600"/>
              </a:spcAft>
              <a:defRPr sz="2400" b="1">
                <a:solidFill>
                  <a:srgbClr val="FFFFFF"/>
                </a:solidFill>
                <a:latin typeface="Verdana"/>
              </a:defRPr>
            </a:pPr>
            <a:r>
              <a:t>RESEARCH PAPERS PUBLISHED</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069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548640"/>
          </a:xfrm>
          <a:prstGeom prst="rect">
            <a:avLst/>
          </a:prstGeom>
          <a:noFill/>
        </p:spPr>
        <p:txBody>
          <a:bodyPr wrap="square">
            <a:spAutoFit/>
          </a:bodyPr>
          <a:lstStyle/>
          <a:p>
            <a:pPr algn="l">
              <a:spcAft>
                <a:spcPts val="600"/>
              </a:spcAft>
              <a:defRPr sz="1800" b="1">
                <a:solidFill>
                  <a:srgbClr val="FFFFFF"/>
                </a:solidFill>
                <a:latin typeface="Verdana"/>
              </a:defRPr>
            </a:pPr>
            <a:r>
              <a:t>Research Papers Published</a:t>
            </a:r>
          </a:p>
        </p:txBody>
      </p:sp>
      <p:sp>
        <p:nvSpPr>
          <p:cNvPr id="4" name="TextBox 3"/>
          <p:cNvSpPr txBox="1"/>
          <p:nvPr/>
        </p:nvSpPr>
        <p:spPr>
          <a:xfrm>
            <a:off x="731520" y="1097280"/>
            <a:ext cx="10515600" cy="5303520"/>
          </a:xfrm>
          <a:prstGeom prst="rect">
            <a:avLst/>
          </a:prstGeom>
          <a:noFill/>
        </p:spPr>
        <p:txBody>
          <a:bodyPr wrap="square">
            <a:spAutoFit/>
          </a:bodyPr>
          <a:lstStyle/>
          <a:p>
            <a:pPr algn="just">
              <a:lnSpc>
                <a:spcPts val="1500"/>
              </a:lnSpc>
              <a:spcAft>
                <a:spcPts val="6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The following research paper has been published as part of this capstone project:</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1">
                <a:solidFill>
                  <a:srgbClr val="000000"/>
                </a:solidFill>
                <a:latin typeface="Verdana"/>
              </a:defRPr>
            </a:pPr>
            <a:r>
              <a:t>Title:</a:t>
            </a:r>
          </a:p>
          <a:p>
            <a:pPr algn="just">
              <a:lnSpc>
                <a:spcPts val="1500"/>
              </a:lnSpc>
              <a:spcBef>
                <a:spcPts val="400"/>
              </a:spcBef>
              <a:spcAft>
                <a:spcPts val="400"/>
              </a:spcAft>
              <a:defRPr sz="1000" b="0">
                <a:solidFill>
                  <a:srgbClr val="000000"/>
                </a:solidFill>
                <a:latin typeface="Verdana"/>
              </a:defRPr>
            </a:pPr>
            <a:r>
              <a:t>"Enhanced Cloud-Native Phishing Detection Using Multi-Modal AI and Computer Vision"</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1">
                <a:solidFill>
                  <a:srgbClr val="000000"/>
                </a:solidFill>
                <a:latin typeface="Verdana"/>
              </a:defRPr>
            </a:pPr>
            <a:r>
              <a:t>Authors:</a:t>
            </a:r>
          </a:p>
          <a:p>
            <a:pPr algn="just">
              <a:lnSpc>
                <a:spcPts val="1500"/>
              </a:lnSpc>
              <a:spcBef>
                <a:spcPts val="400"/>
              </a:spcBef>
              <a:spcAft>
                <a:spcPts val="400"/>
              </a:spcAft>
              <a:defRPr sz="1000" b="0">
                <a:solidFill>
                  <a:srgbClr val="000000"/>
                </a:solidFill>
                <a:latin typeface="Verdana"/>
              </a:defRPr>
            </a:pPr>
            <a:r>
              <a:t>Sidda Deepika, Sasanapuri Sesha Sai, Patapanchula Hemanth Sai, Pasupula Shanthan Kumar, Dr. Cuddapah Anitha</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1">
                <a:solidFill>
                  <a:srgbClr val="000000"/>
                </a:solidFill>
                <a:latin typeface="Verdana"/>
              </a:defRPr>
            </a:pPr>
            <a:r>
              <a:t>Affiliation:</a:t>
            </a:r>
          </a:p>
          <a:p>
            <a:pPr algn="just">
              <a:lnSpc>
                <a:spcPts val="1500"/>
              </a:lnSpc>
              <a:spcBef>
                <a:spcPts val="400"/>
              </a:spcBef>
              <a:spcAft>
                <a:spcPts val="400"/>
              </a:spcAft>
              <a:defRPr sz="1000" b="0">
                <a:solidFill>
                  <a:srgbClr val="000000"/>
                </a:solidFill>
                <a:latin typeface="Verdana"/>
              </a:defRPr>
            </a:pPr>
            <a:r>
              <a:t>Department of Computer Science and Engineering, School of Computing, Mohan Babu University, Tirupati, Andhra Pradesh, India</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1">
                <a:solidFill>
                  <a:srgbClr val="000000"/>
                </a:solidFill>
                <a:latin typeface="Verdana"/>
              </a:defRPr>
            </a:pPr>
            <a:r>
              <a:t>Abstract:</a:t>
            </a:r>
          </a:p>
          <a:p>
            <a:pPr algn="just">
              <a:lnSpc>
                <a:spcPts val="1500"/>
              </a:lnSpc>
              <a:spcBef>
                <a:spcPts val="400"/>
              </a:spcBef>
              <a:spcAft>
                <a:spcPts val="400"/>
              </a:spcAft>
              <a:defRPr sz="1000" b="0">
                <a:solidFill>
                  <a:srgbClr val="000000"/>
                </a:solidFill>
                <a:latin typeface="Verdana"/>
              </a:defRPr>
            </a:pPr>
            <a:r>
              <a:t>This paper introduces SafeClick Enhanced, an advanced cloud-native solution that combines Large Language Models with computer vision and domain intelligence for real-time phishing website detection. Built on AWS serverless architecture, the system employs Amazon Bedrock's Nova Premier for contextual analysis, Amazon Rekognition for visual brand detection, and heuristic domain analysis for pattern recognition. The evaluation shows accuracy improvements from 99.4% to 99.7% while maintaining operational efficiency at approximately $0.011 per URL analysis.</a:t>
            </a:r>
          </a:p>
          <a:p>
            <a:pPr algn="just">
              <a:lnSpc>
                <a:spcPts val="1500"/>
              </a:lnSpc>
              <a:spcBef>
                <a:spcPts val="400"/>
              </a:spcBef>
              <a:spcAft>
                <a:spcPts val="400"/>
              </a:spcAft>
              <a:defRPr sz="1000" b="0">
                <a:solidFill>
                  <a:srgbClr val="000000"/>
                </a:solidFill>
                <a:latin typeface="Verdana"/>
              </a:defRPr>
            </a:pPr>
            <a:endParaRPr/>
          </a:p>
          <a:p>
            <a:pPr algn="just">
              <a:lnSpc>
                <a:spcPts val="1500"/>
              </a:lnSpc>
              <a:spcBef>
                <a:spcPts val="400"/>
              </a:spcBef>
              <a:spcAft>
                <a:spcPts val="400"/>
              </a:spcAft>
              <a:defRPr sz="1000" b="0">
                <a:solidFill>
                  <a:srgbClr val="000000"/>
                </a:solidFill>
                <a:latin typeface="Verdana"/>
              </a:defRPr>
            </a:pPr>
            <a:r>
              <a:t>**Keywords:** Phishing Detection, Cloud-Native Security, Large Language Models, Computer Vision, Amazon Rekognition, Multi-Modal Analysis, Serverless Architecture, AWS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06994"/>
        </a:solidFill>
        <a:effectLst/>
      </p:bgPr>
    </p:bg>
    <p:spTree>
      <p:nvGrpSpPr>
        <p:cNvPr id="1" name=""/>
        <p:cNvGrpSpPr/>
        <p:nvPr/>
      </p:nvGrpSpPr>
      <p:grpSpPr>
        <a:xfrm>
          <a:off x="0" y="0"/>
          <a:ext cx="0" cy="0"/>
          <a:chOff x="0" y="0"/>
          <a:chExt cx="0" cy="0"/>
        </a:xfrm>
      </p:grpSpPr>
      <p:sp>
        <p:nvSpPr>
          <p:cNvPr id="2" name="TextBox 1"/>
          <p:cNvSpPr txBox="1"/>
          <p:nvPr/>
        </p:nvSpPr>
        <p:spPr>
          <a:xfrm>
            <a:off x="914400" y="1828800"/>
            <a:ext cx="10058400" cy="1371600"/>
          </a:xfrm>
          <a:prstGeom prst="rect">
            <a:avLst/>
          </a:prstGeom>
          <a:noFill/>
        </p:spPr>
        <p:txBody>
          <a:bodyPr wrap="square">
            <a:spAutoFit/>
          </a:bodyPr>
          <a:lstStyle/>
          <a:p>
            <a:pPr algn="ctr">
              <a:lnSpc>
                <a:spcPts val="6000"/>
              </a:lnSpc>
              <a:spcAft>
                <a:spcPts val="600"/>
              </a:spcAft>
              <a:defRPr sz="4000" b="1">
                <a:solidFill>
                  <a:srgbClr val="FFFFFF"/>
                </a:solidFill>
                <a:latin typeface="Verdana"/>
              </a:defRPr>
            </a:pPr>
            <a:r>
              <a:t>THANK YOU</a:t>
            </a:r>
          </a:p>
        </p:txBody>
      </p:sp>
      <p:sp>
        <p:nvSpPr>
          <p:cNvPr id="3" name="TextBox 2"/>
          <p:cNvSpPr txBox="1"/>
          <p:nvPr/>
        </p:nvSpPr>
        <p:spPr>
          <a:xfrm>
            <a:off x="914400" y="3474720"/>
            <a:ext cx="10058400" cy="731520"/>
          </a:xfrm>
          <a:prstGeom prst="rect">
            <a:avLst/>
          </a:prstGeom>
          <a:noFill/>
        </p:spPr>
        <p:txBody>
          <a:bodyPr wrap="square">
            <a:spAutoFit/>
          </a:bodyPr>
          <a:lstStyle/>
          <a:p>
            <a:pPr algn="ctr">
              <a:lnSpc>
                <a:spcPts val="2400"/>
              </a:lnSpc>
              <a:spcAft>
                <a:spcPts val="600"/>
              </a:spcAft>
              <a:defRPr sz="1600" b="0">
                <a:solidFill>
                  <a:srgbClr val="ADD8E6"/>
                </a:solidFill>
                <a:latin typeface="Verdana"/>
              </a:defRPr>
            </a:pPr>
            <a:r>
              <a:t>Enhanced Cloud-Native Phishing Detection Using</a:t>
            </a:r>
            <a:br/>
            <a:r>
              <a:t>Multi-Modal AI and Computer Vision</a:t>
            </a:r>
          </a:p>
        </p:txBody>
      </p:sp>
      <p:sp>
        <p:nvSpPr>
          <p:cNvPr id="4" name="TextBox 3"/>
          <p:cNvSpPr txBox="1"/>
          <p:nvPr/>
        </p:nvSpPr>
        <p:spPr>
          <a:xfrm>
            <a:off x="914400" y="4572000"/>
            <a:ext cx="10058400" cy="914400"/>
          </a:xfrm>
          <a:prstGeom prst="rect">
            <a:avLst/>
          </a:prstGeom>
          <a:noFill/>
        </p:spPr>
        <p:txBody>
          <a:bodyPr wrap="square">
            <a:spAutoFit/>
          </a:bodyPr>
          <a:lstStyle/>
          <a:p>
            <a:pPr algn="ctr">
              <a:lnSpc>
                <a:spcPts val="1800"/>
              </a:lnSpc>
              <a:spcAft>
                <a:spcPts val="600"/>
              </a:spcAft>
              <a:defRPr sz="1200" b="0">
                <a:solidFill>
                  <a:srgbClr val="FFFFFF"/>
                </a:solidFill>
                <a:latin typeface="Verdana"/>
              </a:defRPr>
            </a:pPr>
            <a:r>
              <a:t>Sidda Deepika  |  Sasanapuri Sesha Sai  |  Patapanchula Hemanth Sai  |  Pasupula Shanthan Kumar</a:t>
            </a:r>
          </a:p>
        </p:txBody>
      </p:sp>
      <p:sp>
        <p:nvSpPr>
          <p:cNvPr id="5" name="TextBox 4"/>
          <p:cNvSpPr txBox="1"/>
          <p:nvPr/>
        </p:nvSpPr>
        <p:spPr>
          <a:xfrm>
            <a:off x="914400" y="5303520"/>
            <a:ext cx="10058400" cy="457200"/>
          </a:xfrm>
          <a:prstGeom prst="rect">
            <a:avLst/>
          </a:prstGeom>
          <a:noFill/>
        </p:spPr>
        <p:txBody>
          <a:bodyPr wrap="square">
            <a:spAutoFit/>
          </a:bodyPr>
          <a:lstStyle/>
          <a:p>
            <a:pPr algn="ctr">
              <a:lnSpc>
                <a:spcPts val="1800"/>
              </a:lnSpc>
              <a:spcAft>
                <a:spcPts val="600"/>
              </a:spcAft>
              <a:defRPr sz="1200" b="0">
                <a:solidFill>
                  <a:srgbClr val="DAA520"/>
                </a:solidFill>
                <a:latin typeface="Verdana"/>
              </a:defRPr>
            </a:pPr>
            <a:r>
              <a:t>Supervisor: Dr. Cuddapah Anitha</a:t>
            </a:r>
          </a:p>
        </p:txBody>
      </p:sp>
      <p:sp>
        <p:nvSpPr>
          <p:cNvPr id="6" name="TextBox 5"/>
          <p:cNvSpPr txBox="1"/>
          <p:nvPr/>
        </p:nvSpPr>
        <p:spPr>
          <a:xfrm>
            <a:off x="914400" y="5760720"/>
            <a:ext cx="10058400" cy="457200"/>
          </a:xfrm>
          <a:prstGeom prst="rect">
            <a:avLst/>
          </a:prstGeom>
          <a:noFill/>
        </p:spPr>
        <p:txBody>
          <a:bodyPr wrap="square">
            <a:spAutoFit/>
          </a:bodyPr>
          <a:lstStyle/>
          <a:p>
            <a:pPr algn="ctr">
              <a:lnSpc>
                <a:spcPts val="1600"/>
              </a:lnSpc>
              <a:spcAft>
                <a:spcPts val="600"/>
              </a:spcAft>
              <a:defRPr sz="1100" b="0">
                <a:solidFill>
                  <a:srgbClr val="ADD8E6"/>
                </a:solidFill>
                <a:latin typeface="Verdana"/>
              </a:defRPr>
            </a:pPr>
            <a:r>
              <a:t>Department of CSE, School of Computing, Mohan Babu University, Tirupati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1280</TotalTime>
  <Words>7721</Words>
  <Application>Microsoft Office PowerPoint</Application>
  <PresentationFormat>Widescreen</PresentationFormat>
  <Paragraphs>713</Paragraphs>
  <Slides>55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Deepika Sidda</cp:lastModifiedBy>
  <cp:revision>2</cp:revision>
  <dcterms:created xsi:type="dcterms:W3CDTF">2013-01-27T09:14:16Z</dcterms:created>
  <dcterms:modified xsi:type="dcterms:W3CDTF">2026-04-04T12:55:02Z</dcterms:modified>
  <cp:category/>
</cp:coreProperties>
</file>